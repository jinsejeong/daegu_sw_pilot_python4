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EAF8FF">
                  <a:alpha val="100000"/>
                </a:srgbClr>
              </a:gs>
              <a:gs pos="40000">
                <a:srgbClr val="BEE7F7">
                  <a:alpha val="100000"/>
                </a:srgbClr>
              </a:gs>
              <a:gs pos="75000">
                <a:srgbClr val="6FC8ED">
                  <a:alpha val="100000"/>
                </a:srgbClr>
              </a:gs>
              <a:gs pos="100000">
                <a:srgbClr val="2E9AD9">
                  <a:alpha val="100000"/>
                </a:srgbClr>
              </a:gs>
            </a:gsLst>
            <a:path path="circle">
              <a:fillToRect l="30000" t="25000" r="70000" b="75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3335001" y="-2095500"/>
            <a:ext cx="6858001" cy="6858001"/>
          </a:xfrm>
          <a:prstGeom prst="ellipse">
            <a:avLst/>
          </a:prstGeom>
          <a:gradFill rotWithShape="1">
            <a:gsLst>
              <a:gs pos="0">
                <a:srgbClr val="FFFFFF">
                  <a:alpha val="55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Shape 2"/>
          <p:cNvSpPr/>
          <p:nvPr/>
        </p:nvSpPr>
        <p:spPr>
          <a:xfrm>
            <a:off x="1462980" y="7048501"/>
            <a:ext cx="5715000" cy="5715000"/>
          </a:xfrm>
          <a:prstGeom prst="ellipse">
            <a:avLst/>
          </a:prstGeom>
          <a:gradFill rotWithShape="1">
            <a:gsLst>
              <a:gs pos="0">
                <a:srgbClr val="1E56C2">
                  <a:alpha val="22000"/>
                </a:srgbClr>
              </a:gs>
              <a:gs pos="70000">
                <a:srgbClr val="1E56C2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5" name="Shape 3"/>
          <p:cNvSpPr/>
          <p:nvPr/>
        </p:nvSpPr>
        <p:spPr>
          <a:xfrm>
            <a:off x="13997947" y="6172151"/>
            <a:ext cx="2095500" cy="2095500"/>
          </a:xfrm>
          <a:prstGeom prst="ellipse">
            <a:avLst/>
          </a:prstGeom>
          <a:solidFill>
            <a:srgbClr val="FFFFFF">
              <a:alpha val="3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47750" y="3081900"/>
            <a:ext cx="17811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1E5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SUMMER SAFETY SERVICE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47750" y="3558150"/>
            <a:ext cx="17811751" cy="12953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033"/>
              </a:lnSpc>
              <a:buNone/>
            </a:pPr>
            <a:r>
              <a:rPr lang="en-US" sz="9900" b="1" spc="-150" kern="0" dirty="0">
                <a:solidFill>
                  <a:srgbClr val="0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9900" dirty="0"/>
          </a:p>
        </p:txBody>
      </p:sp>
      <p:sp>
        <p:nvSpPr>
          <p:cNvPr id="8" name="Text 6"/>
          <p:cNvSpPr/>
          <p:nvPr/>
        </p:nvSpPr>
        <p:spPr>
          <a:xfrm>
            <a:off x="1047750" y="5120184"/>
            <a:ext cx="17811751" cy="593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dirty="0">
                <a:solidFill>
                  <a:srgbClr val="155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폭염 취약계층을 위한 외출 안전 도우미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047750" y="6847913"/>
            <a:ext cx="1255994" cy="3661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python4팀</a:t>
            </a:r>
            <a:endParaRPr lang="en-US" sz="2100" dirty="0"/>
          </a:p>
        </p:txBody>
      </p:sp>
      <p:sp>
        <p:nvSpPr>
          <p:cNvPr id="10" name="Shape 8"/>
          <p:cNvSpPr/>
          <p:nvPr/>
        </p:nvSpPr>
        <p:spPr>
          <a:xfrm>
            <a:off x="2532311" y="6897688"/>
            <a:ext cx="9525" cy="228534"/>
          </a:xfrm>
          <a:prstGeom prst="rect">
            <a:avLst/>
          </a:prstGeom>
          <a:solidFill>
            <a:srgbClr val="0A3A66">
              <a:alpha val="3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846586" y="6818809"/>
            <a:ext cx="4175357" cy="424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55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박동훈 · 서지희 · 정세진 · 박준호</a:t>
            </a:r>
            <a:endParaRPr lang="en-US" sz="2100" dirty="0"/>
          </a:p>
        </p:txBody>
      </p:sp>
      <p:sp>
        <p:nvSpPr>
          <p:cNvPr id="12" name="Shape 10"/>
          <p:cNvSpPr/>
          <p:nvPr/>
        </p:nvSpPr>
        <p:spPr>
          <a:xfrm>
            <a:off x="6947132" y="6897688"/>
            <a:ext cx="9525" cy="228534"/>
          </a:xfrm>
          <a:prstGeom prst="rect">
            <a:avLst/>
          </a:prstGeom>
          <a:solidFill>
            <a:srgbClr val="0A3A66">
              <a:alpha val="3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261407" y="6818809"/>
            <a:ext cx="1466850" cy="424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155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2026.08.04</a:t>
            </a:r>
            <a:endParaRPr lang="en-US" sz="2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384"/>
            <a:ext cx="178117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— 왜 만들었는가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06508"/>
            <a:ext cx="17811751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75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온도는 알려줘도, 행동은 알려주지 않는다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524042"/>
            <a:ext cx="8831213" cy="7000958"/>
          </a:xfrm>
          <a:prstGeom prst="roundRect">
            <a:avLst>
              <a:gd name="adj" fmla="val 3809"/>
            </a:avLst>
          </a:prstGeom>
          <a:gradFill rotWithShape="1">
            <a:gsLst>
              <a:gs pos="0">
                <a:srgbClr val="6FC8ED">
                  <a:alpha val="100000"/>
                </a:srgbClr>
              </a:gs>
              <a:gs pos="100000">
                <a:srgbClr val="1E7FC4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5" name="Shape 3"/>
          <p:cNvSpPr/>
          <p:nvPr/>
        </p:nvSpPr>
        <p:spPr>
          <a:xfrm>
            <a:off x="8354963" y="1952542"/>
            <a:ext cx="2095500" cy="2095500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504900" y="2866926"/>
            <a:ext cx="456869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747"/>
              </a:lnSpc>
              <a:buNone/>
            </a:pPr>
            <a:r>
              <a:rPr lang="en-US" sz="9000" b="1" dirty="0">
                <a:solidFill>
                  <a:srgbClr val="3FBEE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9000" dirty="0"/>
          </a:p>
        </p:txBody>
      </p:sp>
      <p:sp>
        <p:nvSpPr>
          <p:cNvPr id="7" name="Text 5"/>
          <p:cNvSpPr/>
          <p:nvPr/>
        </p:nvSpPr>
        <p:spPr>
          <a:xfrm>
            <a:off x="1581134" y="5452980"/>
            <a:ext cx="7997380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1707"/>
              </a:lnSpc>
              <a:buNone/>
            </a:pPr>
            <a:r>
              <a:rPr lang="en-US" sz="3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기온이 35도라는 건 알겠는데, 지금 외출해도 되는지와 어디서 쉬어야 하는지는 모르겠어요.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488497" y="3756588"/>
            <a:ext cx="6751754" cy="1350367"/>
          </a:xfrm>
          <a:prstGeom prst="roundRect">
            <a:avLst>
              <a:gd name="adj" fmla="val 14107"/>
            </a:avLst>
          </a:prstGeom>
          <a:solidFill>
            <a:srgbClr val="FFFFFF"/>
          </a:solidFill>
          <a:ln w="5292">
            <a:solidFill>
              <a:srgbClr val="D8E7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874789" y="4066646"/>
            <a:ext cx="6577087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날씨 앱 / 재난문자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0874789" y="4452938"/>
            <a:ext cx="6577087" cy="382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단순 기온·특보 정보만 제공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10488497" y="5354588"/>
            <a:ext cx="6751754" cy="1350367"/>
          </a:xfrm>
          <a:prstGeom prst="roundRect">
            <a:avLst>
              <a:gd name="adj" fmla="val 14107"/>
            </a:avLst>
          </a:prstGeom>
          <a:solidFill>
            <a:srgbClr val="FFFFFF"/>
          </a:solidFill>
          <a:ln w="5292">
            <a:solidFill>
              <a:srgbClr val="D8E7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74789" y="5664647"/>
            <a:ext cx="6577087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공백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0874789" y="6050938"/>
            <a:ext cx="6577087" cy="382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개인별 위험도 · 안전 시간 · 쉼터 연계 안내 없음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10488497" y="6952589"/>
            <a:ext cx="6751754" cy="1339784"/>
          </a:xfrm>
          <a:prstGeom prst="roundRect">
            <a:avLst>
              <a:gd name="adj" fmla="val 14219"/>
            </a:avLst>
          </a:prstGeom>
          <a:solidFill>
            <a:srgbClr val="2E6FE0"/>
          </a:solidFill>
          <a:ln/>
        </p:spPr>
      </p:sp>
      <p:sp>
        <p:nvSpPr>
          <p:cNvPr id="15" name="Text 13"/>
          <p:cNvSpPr/>
          <p:nvPr/>
        </p:nvSpPr>
        <p:spPr>
          <a:xfrm>
            <a:off x="10869497" y="7257356"/>
            <a:ext cx="6588729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고령자 · 어린이 · 야외근로자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0869497" y="7643647"/>
            <a:ext cx="6588729" cy="382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BF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공백이 특히 치명적인 폭염 취약계층</a:t>
            </a:r>
            <a:endParaRPr lang="en-US" sz="1875" dirty="0"/>
          </a:p>
        </p:txBody>
      </p:sp>
      <p:sp>
        <p:nvSpPr>
          <p:cNvPr id="17" name="Text 15"/>
          <p:cNvSpPr/>
          <p:nvPr/>
        </p:nvSpPr>
        <p:spPr>
          <a:xfrm>
            <a:off x="1047750" y="9613967"/>
            <a:ext cx="8391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8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563001" y="9566342"/>
            <a:ext cx="7534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/ 06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384"/>
            <a:ext cx="178117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— 누구를 위한 서비스인가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06508"/>
            <a:ext cx="17811751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75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취약계층과 보호자를 함께 연결하다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524042"/>
            <a:ext cx="3848117" cy="1628676"/>
          </a:xfrm>
          <a:prstGeom prst="roundRect">
            <a:avLst>
              <a:gd name="adj" fmla="val 11697"/>
            </a:avLst>
          </a:prstGeom>
          <a:solidFill>
            <a:srgbClr val="FFFFFF"/>
          </a:solidFill>
          <a:ln w="5292">
            <a:solidFill>
              <a:srgbClr val="D8E7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8792" y="2872218"/>
            <a:ext cx="3592637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고령자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338792" y="3471168"/>
            <a:ext cx="359263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875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폭염 취약 1순위 사용자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5162517" y="2524042"/>
            <a:ext cx="3848199" cy="1628676"/>
          </a:xfrm>
          <a:prstGeom prst="roundRect">
            <a:avLst>
              <a:gd name="adj" fmla="val 11697"/>
            </a:avLst>
          </a:prstGeom>
          <a:solidFill>
            <a:srgbClr val="FFFFFF"/>
          </a:solidFill>
          <a:ln w="5292">
            <a:solidFill>
              <a:srgbClr val="D8E7F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53559" y="2872218"/>
            <a:ext cx="3592728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어린이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5453559" y="3471168"/>
            <a:ext cx="3592728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875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 동반 관점 반영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277367" y="2524042"/>
            <a:ext cx="3848117" cy="1628676"/>
          </a:xfrm>
          <a:prstGeom prst="roundRect">
            <a:avLst>
              <a:gd name="adj" fmla="val 11697"/>
            </a:avLst>
          </a:prstGeom>
          <a:solidFill>
            <a:srgbClr val="FFFFFF"/>
          </a:solidFill>
          <a:ln w="5292">
            <a:solidFill>
              <a:srgbClr val="D8E7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68408" y="2872218"/>
            <a:ext cx="3592637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야외근로자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9568408" y="3471168"/>
            <a:ext cx="359263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875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장시간 실외 노출 그룹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13392134" y="2524042"/>
            <a:ext cx="3848117" cy="1628676"/>
          </a:xfrm>
          <a:prstGeom prst="roundRect">
            <a:avLst>
              <a:gd name="adj" fmla="val 11697"/>
            </a:avLst>
          </a:prstGeom>
          <a:solidFill>
            <a:srgbClr val="FFFFFF"/>
          </a:solidFill>
          <a:ln w="5292">
            <a:solidFill>
              <a:srgbClr val="D8E7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683175" y="2872218"/>
            <a:ext cx="3592637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사용자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3683175" y="3471168"/>
            <a:ext cx="3592637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1154"/>
              </a:lnSpc>
              <a:buNone/>
            </a:pPr>
            <a:r>
              <a:rPr lang="en-US" sz="1875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누구나 사용 가능한 안전 정보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047750" y="4571752"/>
            <a:ext cx="16192501" cy="1800076"/>
          </a:xfrm>
          <a:prstGeom prst="roundRect">
            <a:avLst>
              <a:gd name="adj" fmla="val 12699"/>
            </a:avLst>
          </a:prstGeom>
          <a:gradFill rotWithShape="1">
            <a:gsLst>
              <a:gs pos="0">
                <a:srgbClr val="6FC8ED">
                  <a:alpha val="100000"/>
                </a:srgbClr>
              </a:gs>
              <a:gs pos="100000">
                <a:srgbClr val="1E7FC4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7" name="Shape 15"/>
          <p:cNvSpPr/>
          <p:nvPr/>
        </p:nvSpPr>
        <p:spPr>
          <a:xfrm>
            <a:off x="666750" y="4752578"/>
            <a:ext cx="2286000" cy="22860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951779" y="5028902"/>
            <a:ext cx="1205971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51779" y="5570720"/>
            <a:ext cx="1205971" cy="382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BF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외출 · 활동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8576800" y="5215103"/>
            <a:ext cx="438679" cy="5513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dirty="0">
                <a:solidFill>
                  <a:srgbClr val="3FB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⇄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9301349" y="5028902"/>
            <a:ext cx="2091771" cy="503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보호자(가족)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9301349" y="5570720"/>
            <a:ext cx="2091771" cy="382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BF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안부 확인 대시보드</a:t>
            </a:r>
            <a:endParaRPr lang="en-US" sz="1875" dirty="0"/>
          </a:p>
        </p:txBody>
      </p:sp>
      <p:sp>
        <p:nvSpPr>
          <p:cNvPr id="23" name="Text 21"/>
          <p:cNvSpPr/>
          <p:nvPr/>
        </p:nvSpPr>
        <p:spPr>
          <a:xfrm>
            <a:off x="1047750" y="9613967"/>
            <a:ext cx="8391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8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6563001" y="9566342"/>
            <a:ext cx="7534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06</a:t>
            </a:r>
            <a:endParaRPr lang="en-US" sz="1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384"/>
            <a:ext cx="178117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— 무엇을 만들었는가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06508"/>
            <a:ext cx="17811751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75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네 가지 기능으로 완성한 폭염 안전 판단</a:t>
            </a:r>
            <a:endParaRPr lang="en-US" sz="4500" dirty="0"/>
          </a:p>
        </p:txBody>
      </p:sp>
      <p:sp>
        <p:nvSpPr>
          <p:cNvPr id="4" name="Text 2"/>
          <p:cNvSpPr/>
          <p:nvPr/>
        </p:nvSpPr>
        <p:spPr>
          <a:xfrm>
            <a:off x="1047750" y="4900001"/>
            <a:ext cx="685734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FB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1885818" y="4900001"/>
            <a:ext cx="4369445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 맞춤 폭염 위험도 분석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885818" y="5306384"/>
            <a:ext cx="4369445" cy="382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위치·시간·활동유형 기반 위험점수 산출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047750" y="5840843"/>
            <a:ext cx="685734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FB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885818" y="5840843"/>
            <a:ext cx="3499140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안전한 외출 시간 추천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885818" y="6247226"/>
            <a:ext cx="3499140" cy="382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시간대별 위험도 비교, 순위 제시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047750" y="6781684"/>
            <a:ext cx="685734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FB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50" dirty="0"/>
          </a:p>
        </p:txBody>
      </p:sp>
      <p:sp>
        <p:nvSpPr>
          <p:cNvPr id="11" name="Text 9"/>
          <p:cNvSpPr/>
          <p:nvPr/>
        </p:nvSpPr>
        <p:spPr>
          <a:xfrm>
            <a:off x="1885818" y="6781684"/>
            <a:ext cx="4609918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주변 무더위쉼터 안내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885818" y="7188068"/>
            <a:ext cx="4609918" cy="382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거리순 쉼터 목록, 수용인원·냉방시설 정보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047750" y="7722526"/>
            <a:ext cx="685734" cy="450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3FBEE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885818" y="7722526"/>
            <a:ext cx="3740522" cy="38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폭염 안전 계획 생성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885818" y="8128910"/>
            <a:ext cx="3740522" cy="38205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개인화된 행동 지침 문장 자동 생성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2936630" y="4105751"/>
            <a:ext cx="2373990" cy="5161366"/>
          </a:xfrm>
          <a:prstGeom prst="roundRect">
            <a:avLst>
              <a:gd name="adj" fmla="val 11940"/>
            </a:avLst>
          </a:prstGeom>
          <a:solidFill>
            <a:srgbClr val="F2F2F7"/>
          </a:solidFill>
          <a:ln/>
          <a:effectLst>
            <a:outerShdw sx="100000" sy="100000" kx="0" ky="0" algn="bl" rotWithShape="0" blurRad="762000" dist="3810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13751583" y="4170702"/>
            <a:ext cx="744084" cy="218483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18" name="Text 16"/>
          <p:cNvSpPr/>
          <p:nvPr/>
        </p:nvSpPr>
        <p:spPr>
          <a:xfrm>
            <a:off x="13269582" y="4234165"/>
            <a:ext cx="281252" cy="1680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3143"/>
              </a:lnSpc>
              <a:buNone/>
            </a:pPr>
            <a:r>
              <a:rPr lang="en-US" sz="79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</a:t>
            </a:r>
            <a:endParaRPr lang="en-US" sz="790" dirty="0"/>
          </a:p>
        </p:txBody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4641893" y="4262206"/>
            <a:ext cx="112162" cy="70845"/>
          </a:xfrm>
          <a:prstGeom prst="rect">
            <a:avLst/>
          </a:prstGeom>
        </p:spPr>
      </p:pic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795374" y="4262206"/>
            <a:ext cx="100374" cy="70845"/>
          </a:xfrm>
          <a:prstGeom prst="rect">
            <a:avLst/>
          </a:prstGeom>
        </p:spPr>
      </p:pic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937066" y="4259284"/>
            <a:ext cx="159428" cy="76741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13031107" y="4471872"/>
            <a:ext cx="259801" cy="259801"/>
          </a:xfrm>
          <a:prstGeom prst="ellipse">
            <a:avLst/>
          </a:prstGeom>
          <a:ln/>
          <a:effectLst>
            <a:outerShdw sx="100000" sy="100000" kx="0" ky="0" algn="bl" rotWithShape="0" blurRad="28575" dist="9525" dir="540000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13031107" y="4471872"/>
            <a:ext cx="259801" cy="259801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4" name="Shape 19"/>
          <p:cNvSpPr/>
          <p:nvPr/>
        </p:nvSpPr>
        <p:spPr>
          <a:xfrm>
            <a:off x="13031107" y="4471872"/>
            <a:ext cx="259801" cy="259801"/>
          </a:xfrm>
          <a:prstGeom prst="ellipse">
            <a:avLst/>
          </a:prstGeom>
          <a:ln w="3281">
            <a:solidFill>
              <a:srgbClr val="000000">
                <a:alpha val="6000"/>
              </a:srgbClr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3122611" y="4542666"/>
            <a:ext cx="70846" cy="118110"/>
          </a:xfrm>
          <a:prstGeom prst="rect">
            <a:avLst/>
          </a:prstGeom>
        </p:spPr>
      </p:pic>
      <p:sp>
        <p:nvSpPr>
          <p:cNvPr id="26" name="Shape 20"/>
          <p:cNvSpPr/>
          <p:nvPr/>
        </p:nvSpPr>
        <p:spPr>
          <a:xfrm>
            <a:off x="14956341" y="4471872"/>
            <a:ext cx="259801" cy="259801"/>
          </a:xfrm>
          <a:prstGeom prst="ellipse">
            <a:avLst/>
          </a:prstGeom>
          <a:ln/>
          <a:effectLst>
            <a:outerShdw sx="100000" sy="100000" kx="0" ky="0" algn="bl" rotWithShape="0" blurRad="28575" dist="9525" dir="5400000">
              <a:srgbClr val="000000">
                <a:alpha val="7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14956341" y="4471872"/>
            <a:ext cx="259801" cy="259801"/>
          </a:xfrm>
          <a:prstGeom prst="ellipse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8" name="Shape 22"/>
          <p:cNvSpPr/>
          <p:nvPr/>
        </p:nvSpPr>
        <p:spPr>
          <a:xfrm>
            <a:off x="14956341" y="4471872"/>
            <a:ext cx="259801" cy="259801"/>
          </a:xfrm>
          <a:prstGeom prst="ellipse">
            <a:avLst/>
          </a:prstGeom>
          <a:ln w="3281">
            <a:solidFill>
              <a:srgbClr val="000000">
                <a:alpha val="600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021240" y="4584035"/>
            <a:ext cx="129900" cy="35423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3031118" y="4790728"/>
            <a:ext cx="2422412" cy="2802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429"/>
              </a:lnSpc>
              <a:buNone/>
            </a:pPr>
            <a:r>
              <a:rPr lang="en-US" sz="1581" b="1" spc="19" kern="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581" dirty="0"/>
          </a:p>
        </p:txBody>
      </p:sp>
      <p:sp>
        <p:nvSpPr>
          <p:cNvPr id="31" name="Shape 24"/>
          <p:cNvSpPr/>
          <p:nvPr/>
        </p:nvSpPr>
        <p:spPr>
          <a:xfrm>
            <a:off x="12936630" y="5091898"/>
            <a:ext cx="2373990" cy="4175220"/>
          </a:xfrm>
          <a:prstGeom prst="rect">
            <a:avLst/>
          </a:prstGeom>
          <a:gradFill rotWithShape="1">
            <a:gsLst>
              <a:gs pos="0">
                <a:srgbClr val="0F2A4A">
                  <a:alpha val="100000"/>
                </a:srgbClr>
              </a:gs>
              <a:gs pos="100000">
                <a:srgbClr val="0A1A30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32" name="Text 25"/>
          <p:cNvSpPr/>
          <p:nvPr/>
        </p:nvSpPr>
        <p:spPr>
          <a:xfrm>
            <a:off x="13066530" y="5233589"/>
            <a:ext cx="2325608" cy="18245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0" b="1" dirty="0">
                <a:solidFill>
                  <a:srgbClr val="BF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오늘의 폭염 위험도</a:t>
            </a:r>
            <a:endParaRPr lang="en-US" sz="930" dirty="0"/>
          </a:p>
        </p:txBody>
      </p:sp>
      <p:sp>
        <p:nvSpPr>
          <p:cNvPr id="33" name="Shape 26"/>
          <p:cNvSpPr/>
          <p:nvPr/>
        </p:nvSpPr>
        <p:spPr>
          <a:xfrm>
            <a:off x="13066530" y="5496056"/>
            <a:ext cx="2114189" cy="1004499"/>
          </a:xfrm>
          <a:prstGeom prst="roundRect">
            <a:avLst>
              <a:gd name="adj" fmla="val 11758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13913394" y="5625957"/>
            <a:ext cx="496608" cy="4711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976" b="1" dirty="0">
                <a:solidFill>
                  <a:srgbClr val="FF9F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2976" dirty="0"/>
          </a:p>
        </p:txBody>
      </p:sp>
      <p:sp>
        <p:nvSpPr>
          <p:cNvPr id="35" name="Text 28"/>
          <p:cNvSpPr/>
          <p:nvPr/>
        </p:nvSpPr>
        <p:spPr>
          <a:xfrm>
            <a:off x="13712392" y="6082607"/>
            <a:ext cx="898664" cy="1726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44" dirty="0">
                <a:solidFill>
                  <a:srgbClr val="BF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· 야외활동 자제</a:t>
            </a:r>
            <a:endParaRPr lang="en-US" sz="744" dirty="0"/>
          </a:p>
        </p:txBody>
      </p:sp>
      <p:sp>
        <p:nvSpPr>
          <p:cNvPr id="36" name="Shape 29"/>
          <p:cNvSpPr/>
          <p:nvPr/>
        </p:nvSpPr>
        <p:spPr>
          <a:xfrm>
            <a:off x="13196431" y="6311600"/>
            <a:ext cx="1854388" cy="59055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7" name="Shape 30"/>
          <p:cNvSpPr/>
          <p:nvPr/>
        </p:nvSpPr>
        <p:spPr>
          <a:xfrm>
            <a:off x="13196431" y="6311600"/>
            <a:ext cx="1446386" cy="59055"/>
          </a:xfrm>
          <a:prstGeom prst="rect">
            <a:avLst/>
          </a:prstGeom>
          <a:gradFill rotWithShape="1">
            <a:gsLst>
              <a:gs pos="0">
                <a:srgbClr val="3FBEEF">
                  <a:alpha val="100000"/>
                </a:srgbClr>
              </a:gs>
              <a:gs pos="100000">
                <a:srgbClr val="FF9F5A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38" name="Text 31"/>
          <p:cNvSpPr/>
          <p:nvPr/>
        </p:nvSpPr>
        <p:spPr>
          <a:xfrm>
            <a:off x="13066530" y="6642246"/>
            <a:ext cx="2325608" cy="15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안전한 외출 시간</a:t>
            </a:r>
            <a:endParaRPr lang="en-US" sz="744" dirty="0"/>
          </a:p>
        </p:txBody>
      </p:sp>
      <p:sp>
        <p:nvSpPr>
          <p:cNvPr id="39" name="Shape 32"/>
          <p:cNvSpPr/>
          <p:nvPr/>
        </p:nvSpPr>
        <p:spPr>
          <a:xfrm>
            <a:off x="13066530" y="6875184"/>
            <a:ext cx="2114189" cy="246063"/>
          </a:xfrm>
          <a:prstGeom prst="roundRect">
            <a:avLst>
              <a:gd name="adj" fmla="val 28800"/>
            </a:avLst>
          </a:prstGeom>
          <a:solidFill>
            <a:srgbClr val="3FBEEF">
              <a:alpha val="18000"/>
            </a:srgbClr>
          </a:solidFill>
          <a:ln/>
        </p:spPr>
      </p:sp>
      <p:sp>
        <p:nvSpPr>
          <p:cNvPr id="40" name="Text 33"/>
          <p:cNvSpPr/>
          <p:nvPr/>
        </p:nvSpPr>
        <p:spPr>
          <a:xfrm>
            <a:off x="13149166" y="6934240"/>
            <a:ext cx="394697" cy="166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오전 7시</a:t>
            </a:r>
            <a:endParaRPr lang="en-US" sz="698" dirty="0"/>
          </a:p>
        </p:txBody>
      </p:sp>
      <p:sp>
        <p:nvSpPr>
          <p:cNvPr id="41" name="Text 34"/>
          <p:cNvSpPr/>
          <p:nvPr/>
        </p:nvSpPr>
        <p:spPr>
          <a:xfrm>
            <a:off x="14944806" y="6934240"/>
            <a:ext cx="229476" cy="166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8" b="1" dirty="0">
                <a:solidFill>
                  <a:srgbClr val="7BE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</a:t>
            </a:r>
            <a:endParaRPr lang="en-US" sz="698" dirty="0"/>
          </a:p>
        </p:txBody>
      </p:sp>
      <p:sp>
        <p:nvSpPr>
          <p:cNvPr id="42" name="Shape 35"/>
          <p:cNvSpPr/>
          <p:nvPr/>
        </p:nvSpPr>
        <p:spPr>
          <a:xfrm>
            <a:off x="13066530" y="7168461"/>
            <a:ext cx="2114189" cy="246063"/>
          </a:xfrm>
          <a:prstGeom prst="roundRect">
            <a:avLst>
              <a:gd name="adj" fmla="val 288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43" name="Text 36"/>
          <p:cNvSpPr/>
          <p:nvPr/>
        </p:nvSpPr>
        <p:spPr>
          <a:xfrm>
            <a:off x="13149166" y="7227516"/>
            <a:ext cx="394697" cy="166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오후 1시</a:t>
            </a:r>
            <a:endParaRPr lang="en-US" sz="698" dirty="0"/>
          </a:p>
        </p:txBody>
      </p:sp>
      <p:sp>
        <p:nvSpPr>
          <p:cNvPr id="44" name="Text 37"/>
          <p:cNvSpPr/>
          <p:nvPr/>
        </p:nvSpPr>
        <p:spPr>
          <a:xfrm>
            <a:off x="14944806" y="7227516"/>
            <a:ext cx="229476" cy="16605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8" b="1" dirty="0">
                <a:solidFill>
                  <a:srgbClr val="FF8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sz="698" dirty="0"/>
          </a:p>
        </p:txBody>
      </p:sp>
      <p:sp>
        <p:nvSpPr>
          <p:cNvPr id="45" name="Shape 38"/>
          <p:cNvSpPr/>
          <p:nvPr/>
        </p:nvSpPr>
        <p:spPr>
          <a:xfrm>
            <a:off x="13066530" y="7461737"/>
            <a:ext cx="2114189" cy="246063"/>
          </a:xfrm>
          <a:prstGeom prst="roundRect">
            <a:avLst>
              <a:gd name="adj" fmla="val 288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46" name="Text 39"/>
          <p:cNvSpPr/>
          <p:nvPr/>
        </p:nvSpPr>
        <p:spPr>
          <a:xfrm>
            <a:off x="13149166" y="7520792"/>
            <a:ext cx="394697" cy="166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8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오후 7시</a:t>
            </a:r>
            <a:endParaRPr lang="en-US" sz="698" dirty="0"/>
          </a:p>
        </p:txBody>
      </p:sp>
      <p:sp>
        <p:nvSpPr>
          <p:cNvPr id="47" name="Text 40"/>
          <p:cNvSpPr/>
          <p:nvPr/>
        </p:nvSpPr>
        <p:spPr>
          <a:xfrm>
            <a:off x="14944806" y="7520792"/>
            <a:ext cx="229476" cy="1660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98" b="1" dirty="0">
                <a:solidFill>
                  <a:srgbClr val="FFD3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698" dirty="0"/>
          </a:p>
        </p:txBody>
      </p:sp>
      <p:sp>
        <p:nvSpPr>
          <p:cNvPr id="48" name="Text 41"/>
          <p:cNvSpPr/>
          <p:nvPr/>
        </p:nvSpPr>
        <p:spPr>
          <a:xfrm>
            <a:off x="13066530" y="7849490"/>
            <a:ext cx="2325608" cy="1529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가까운 무더위쉼터</a:t>
            </a:r>
            <a:endParaRPr lang="en-US" sz="744" dirty="0"/>
          </a:p>
        </p:txBody>
      </p:sp>
      <p:sp>
        <p:nvSpPr>
          <p:cNvPr id="49" name="Shape 42"/>
          <p:cNvSpPr/>
          <p:nvPr/>
        </p:nvSpPr>
        <p:spPr>
          <a:xfrm>
            <a:off x="13066530" y="8082429"/>
            <a:ext cx="2114189" cy="236220"/>
          </a:xfrm>
          <a:prstGeom prst="roundRect">
            <a:avLst>
              <a:gd name="adj" fmla="val 3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50" name="Text 43"/>
          <p:cNvSpPr/>
          <p:nvPr/>
        </p:nvSpPr>
        <p:spPr>
          <a:xfrm>
            <a:off x="13149207" y="8141484"/>
            <a:ext cx="2025035" cy="156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51" dirty="0">
                <a:solidFill>
                  <a:srgbClr val="BF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중앙동 주민센터 · 240m · 냉방 O</a:t>
            </a:r>
            <a:endParaRPr lang="en-US" sz="651" dirty="0"/>
          </a:p>
        </p:txBody>
      </p:sp>
      <p:sp>
        <p:nvSpPr>
          <p:cNvPr id="51" name="Shape 44"/>
          <p:cNvSpPr/>
          <p:nvPr/>
        </p:nvSpPr>
        <p:spPr>
          <a:xfrm>
            <a:off x="13066530" y="8365863"/>
            <a:ext cx="2114189" cy="236220"/>
          </a:xfrm>
          <a:prstGeom prst="roundRect">
            <a:avLst>
              <a:gd name="adj" fmla="val 3000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52" name="Text 45"/>
          <p:cNvSpPr/>
          <p:nvPr/>
        </p:nvSpPr>
        <p:spPr>
          <a:xfrm>
            <a:off x="13149207" y="8424918"/>
            <a:ext cx="2025035" cy="1562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51" dirty="0">
                <a:solidFill>
                  <a:srgbClr val="BF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행복도서관 · 410m · 냉방 O</a:t>
            </a:r>
            <a:endParaRPr lang="en-US" sz="651" dirty="0"/>
          </a:p>
        </p:txBody>
      </p:sp>
      <p:sp>
        <p:nvSpPr>
          <p:cNvPr id="53" name="Shape 46"/>
          <p:cNvSpPr/>
          <p:nvPr/>
        </p:nvSpPr>
        <p:spPr>
          <a:xfrm>
            <a:off x="13713213" y="9190377"/>
            <a:ext cx="820823" cy="29527"/>
          </a:xfrm>
          <a:prstGeom prst="roundRect">
            <a:avLst>
              <a:gd name="adj" fmla="val 50000"/>
            </a:avLst>
          </a:prstGeom>
          <a:solidFill>
            <a:srgbClr val="000000">
              <a:alpha val="25000"/>
            </a:srgbClr>
          </a:solidFill>
          <a:ln/>
        </p:spPr>
      </p:sp>
      <p:sp>
        <p:nvSpPr>
          <p:cNvPr id="54" name="Text 47"/>
          <p:cNvSpPr/>
          <p:nvPr/>
        </p:nvSpPr>
        <p:spPr>
          <a:xfrm>
            <a:off x="1047750" y="9613967"/>
            <a:ext cx="8391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8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55" name="Text 48"/>
          <p:cNvSpPr/>
          <p:nvPr/>
        </p:nvSpPr>
        <p:spPr>
          <a:xfrm>
            <a:off x="16563001" y="9566342"/>
            <a:ext cx="7534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06</a:t>
            </a:r>
            <a:endParaRPr lang="en-US" sz="16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384"/>
            <a:ext cx="178117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&amp; WHERE — 언제, 어디서 쓰이는가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06508"/>
            <a:ext cx="17811751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75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외출 전부터 귀가 후까지, 실시간으로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2524042"/>
            <a:ext cx="5399237" cy="1402705"/>
          </a:xfrm>
          <a:custGeom>
            <a:avLst/>
            <a:gdLst/>
            <a:ahLst/>
            <a:cxnLst/>
            <a:rect l="l" t="t" r="r" b="b"/>
            <a:pathLst>
              <a:path w="5399237" h="1402705">
                <a:moveTo>
                  <a:pt x="190500" y="0"/>
                </a:moveTo>
                <a:lnTo>
                  <a:pt x="5399237" y="0"/>
                </a:lnTo>
                <a:lnTo>
                  <a:pt x="5399237" y="1402705"/>
                </a:lnTo>
                <a:lnTo>
                  <a:pt x="190500" y="1402705"/>
                </a:lnTo>
                <a:arcTo hR="190500" wR="190500" stAng="5400000" swAng="5400000"/>
                <a:lnTo>
                  <a:pt x="0" y="190500"/>
                </a:lnTo>
                <a:arcTo hR="190500" wR="190500" stAng="10800000" swAng="5400000"/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1047750" y="3921456"/>
            <a:ext cx="5399237" cy="9525"/>
          </a:xfrm>
          <a:prstGeom prst="rect">
            <a:avLst/>
          </a:prstGeom>
          <a:solidFill>
            <a:srgbClr val="D8E7F5"/>
          </a:solidFill>
          <a:ln/>
        </p:spPr>
      </p:sp>
      <p:sp>
        <p:nvSpPr>
          <p:cNvPr id="6" name="Shape 4"/>
          <p:cNvSpPr/>
          <p:nvPr/>
        </p:nvSpPr>
        <p:spPr>
          <a:xfrm>
            <a:off x="1047750" y="2524042"/>
            <a:ext cx="5399237" cy="9525"/>
          </a:xfrm>
          <a:prstGeom prst="rect">
            <a:avLst/>
          </a:prstGeom>
          <a:solidFill>
            <a:srgbClr val="D8E7F5"/>
          </a:solidFill>
          <a:ln/>
        </p:spPr>
      </p:sp>
      <p:sp>
        <p:nvSpPr>
          <p:cNvPr id="7" name="Shape 5"/>
          <p:cNvSpPr/>
          <p:nvPr/>
        </p:nvSpPr>
        <p:spPr>
          <a:xfrm>
            <a:off x="1047750" y="2524042"/>
            <a:ext cx="9525" cy="1402705"/>
          </a:xfrm>
          <a:prstGeom prst="rect">
            <a:avLst/>
          </a:prstGeom>
          <a:solidFill>
            <a:srgbClr val="D8E7F5"/>
          </a:solidFill>
          <a:ln/>
        </p:spPr>
      </p:sp>
      <p:sp>
        <p:nvSpPr>
          <p:cNvPr id="8" name="Text 6"/>
          <p:cNvSpPr/>
          <p:nvPr/>
        </p:nvSpPr>
        <p:spPr>
          <a:xfrm>
            <a:off x="1357809" y="2872218"/>
            <a:ext cx="5262852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외출 전</a:t>
            </a:r>
            <a:endParaRPr lang="en-US" sz="1875" dirty="0"/>
          </a:p>
        </p:txBody>
      </p:sp>
      <p:sp>
        <p:nvSpPr>
          <p:cNvPr id="9" name="Text 7"/>
          <p:cNvSpPr/>
          <p:nvPr/>
        </p:nvSpPr>
        <p:spPr>
          <a:xfrm>
            <a:off x="1357809" y="3258509"/>
            <a:ext cx="5262852" cy="35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800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확인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446987" y="2524042"/>
            <a:ext cx="5394028" cy="1402705"/>
          </a:xfrm>
          <a:prstGeom prst="rect">
            <a:avLst/>
          </a:prstGeom>
          <a:gradFill rotWithShape="1">
            <a:gsLst>
              <a:gs pos="0">
                <a:srgbClr val="6FC8ED">
                  <a:alpha val="100000"/>
                </a:srgbClr>
              </a:gs>
              <a:gs pos="100000">
                <a:srgbClr val="1E7FC4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11" name="Text 9"/>
          <p:cNvSpPr/>
          <p:nvPr/>
        </p:nvSpPr>
        <p:spPr>
          <a:xfrm>
            <a:off x="6751754" y="2866926"/>
            <a:ext cx="5262943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외출 중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6751754" y="3253218"/>
            <a:ext cx="5262943" cy="35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800" dirty="0">
                <a:solidFill>
                  <a:srgbClr val="BF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 기반 쉼터 안내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841014" y="2524042"/>
            <a:ext cx="5399237" cy="1402705"/>
          </a:xfrm>
          <a:custGeom>
            <a:avLst/>
            <a:gdLst/>
            <a:ahLst/>
            <a:cxnLst/>
            <a:rect l="l" t="t" r="r" b="b"/>
            <a:pathLst>
              <a:path w="5399237" h="1402705">
                <a:moveTo>
                  <a:pt x="0" y="0"/>
                </a:moveTo>
                <a:lnTo>
                  <a:pt x="5208737" y="0"/>
                </a:lnTo>
                <a:arcTo hR="190500" wR="190500" stAng="16200000" swAng="5400000"/>
                <a:lnTo>
                  <a:pt x="5399237" y="1212205"/>
                </a:lnTo>
                <a:arcTo hR="190500" wR="190500" stAng="0" swAng="5400000"/>
                <a:lnTo>
                  <a:pt x="0" y="140270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1841014" y="3921456"/>
            <a:ext cx="5399237" cy="9525"/>
          </a:xfrm>
          <a:prstGeom prst="rect">
            <a:avLst/>
          </a:prstGeom>
          <a:solidFill>
            <a:srgbClr val="D8E7F5"/>
          </a:solidFill>
          <a:ln/>
        </p:spPr>
      </p:sp>
      <p:sp>
        <p:nvSpPr>
          <p:cNvPr id="15" name="Shape 13"/>
          <p:cNvSpPr/>
          <p:nvPr/>
        </p:nvSpPr>
        <p:spPr>
          <a:xfrm>
            <a:off x="11841014" y="2524042"/>
            <a:ext cx="5399237" cy="9525"/>
          </a:xfrm>
          <a:prstGeom prst="rect">
            <a:avLst/>
          </a:prstGeom>
          <a:solidFill>
            <a:srgbClr val="D8E7F5"/>
          </a:solidFill>
          <a:ln/>
        </p:spPr>
      </p:sp>
      <p:sp>
        <p:nvSpPr>
          <p:cNvPr id="16" name="Shape 14"/>
          <p:cNvSpPr/>
          <p:nvPr/>
        </p:nvSpPr>
        <p:spPr>
          <a:xfrm>
            <a:off x="17234959" y="2524042"/>
            <a:ext cx="9525" cy="1402705"/>
          </a:xfrm>
          <a:prstGeom prst="rect">
            <a:avLst/>
          </a:prstGeom>
          <a:solidFill>
            <a:srgbClr val="D8E7F5"/>
          </a:solidFill>
          <a:ln/>
        </p:spPr>
      </p:sp>
      <p:sp>
        <p:nvSpPr>
          <p:cNvPr id="17" name="Text 15"/>
          <p:cNvSpPr/>
          <p:nvPr/>
        </p:nvSpPr>
        <p:spPr>
          <a:xfrm>
            <a:off x="12145781" y="2872218"/>
            <a:ext cx="5262852" cy="3291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75" b="1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귀가 후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2145781" y="3258509"/>
            <a:ext cx="5262852" cy="358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429"/>
              </a:lnSpc>
              <a:buNone/>
            </a:pPr>
            <a:r>
              <a:rPr lang="en-US" sz="1800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 안부 공유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47750" y="4345782"/>
            <a:ext cx="10132343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출처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1047750" y="4799790"/>
            <a:ext cx="9211221" cy="677333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5292">
            <a:solidFill>
              <a:srgbClr val="D8E7F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81642" y="4995582"/>
            <a:ext cx="90197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기상청 단기예보 API</a:t>
            </a:r>
            <a:pPr algn="l" indent="0" marL="0">
              <a:buNone/>
            </a:pPr>
            <a:r>
              <a:rPr lang="en-US" sz="1500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5km 격자 기온·습도·풍속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47750" y="5610407"/>
            <a:ext cx="9211221" cy="677333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5292">
            <a:solidFill>
              <a:srgbClr val="D8E7F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81642" y="5806199"/>
            <a:ext cx="90197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기상청 영향예보 API</a:t>
            </a:r>
            <a:pPr algn="l" indent="0" marL="0">
              <a:buNone/>
            </a:pPr>
            <a:r>
              <a:rPr lang="en-US" sz="1500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폭염 위험 단계 · 대응 요령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047750" y="6421024"/>
            <a:ext cx="9211221" cy="677333"/>
          </a:xfrm>
          <a:prstGeom prst="roundRect">
            <a:avLst>
              <a:gd name="adj" fmla="val 22500"/>
            </a:avLst>
          </a:prstGeom>
          <a:solidFill>
            <a:srgbClr val="FFFFFF"/>
          </a:solidFill>
          <a:ln w="5292">
            <a:solidFill>
              <a:srgbClr val="D8E7F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281642" y="6616816"/>
            <a:ext cx="9019774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행정안전부 무더위쉼터 API</a:t>
            </a:r>
            <a:pPr algn="l" indent="0" marL="0">
              <a:buNone/>
            </a:pPr>
            <a:r>
              <a:rPr lang="en-US" sz="1500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위치 · 수용인원 · 냉방시설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792355" y="4345782"/>
            <a:ext cx="7092686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개발 일정 (3주)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10792355" y="4799790"/>
            <a:ext cx="6447896" cy="635000"/>
          </a:xfrm>
          <a:prstGeom prst="roundRect">
            <a:avLst>
              <a:gd name="adj" fmla="val 24000"/>
            </a:avLst>
          </a:prstGeom>
          <a:solidFill>
            <a:srgbClr val="2E6FE0"/>
          </a:solidFill>
          <a:ln/>
        </p:spPr>
      </p:sp>
      <p:sp>
        <p:nvSpPr>
          <p:cNvPr id="28" name="Text 26"/>
          <p:cNvSpPr/>
          <p:nvPr/>
        </p:nvSpPr>
        <p:spPr>
          <a:xfrm>
            <a:off x="11020955" y="4990290"/>
            <a:ext cx="618413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1주차 · API·알고리즘</a:t>
            </a:r>
            <a:endParaRPr lang="en-US" sz="1650" dirty="0"/>
          </a:p>
        </p:txBody>
      </p:sp>
      <p:sp>
        <p:nvSpPr>
          <p:cNvPr id="29" name="Shape 27"/>
          <p:cNvSpPr/>
          <p:nvPr/>
        </p:nvSpPr>
        <p:spPr>
          <a:xfrm>
            <a:off x="10792355" y="5568074"/>
            <a:ext cx="6447896" cy="635000"/>
          </a:xfrm>
          <a:prstGeom prst="roundRect">
            <a:avLst>
              <a:gd name="adj" fmla="val 24000"/>
            </a:avLst>
          </a:prstGeom>
          <a:solidFill>
            <a:srgbClr val="2E6FE0">
              <a:alpha val="80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1020955" y="5758574"/>
            <a:ext cx="618413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2주차 · 핵심 화면 구현</a:t>
            </a:r>
            <a:endParaRPr lang="en-US" sz="1650" dirty="0"/>
          </a:p>
        </p:txBody>
      </p:sp>
      <p:sp>
        <p:nvSpPr>
          <p:cNvPr id="31" name="Shape 29"/>
          <p:cNvSpPr/>
          <p:nvPr/>
        </p:nvSpPr>
        <p:spPr>
          <a:xfrm>
            <a:off x="10792355" y="6336358"/>
            <a:ext cx="6447896" cy="635000"/>
          </a:xfrm>
          <a:prstGeom prst="roundRect">
            <a:avLst>
              <a:gd name="adj" fmla="val 24000"/>
            </a:avLst>
          </a:prstGeom>
          <a:solidFill>
            <a:srgbClr val="2E6FE0">
              <a:alpha val="6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1020955" y="6526858"/>
            <a:ext cx="6184133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3주차 · 보호자 기능·마무리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1047750" y="9613967"/>
            <a:ext cx="8391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8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6563001" y="9566342"/>
            <a:ext cx="7534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06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914384"/>
            <a:ext cx="178117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2E6F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— 어떻게 구현했는가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1047750" y="1406508"/>
            <a:ext cx="17811751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75" kern="0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위험도는 규칙으로, 설명은 AI로</a:t>
            </a:r>
            <a:endParaRPr lang="en-US" sz="4500" dirty="0"/>
          </a:p>
        </p:txBody>
      </p:sp>
      <p:sp>
        <p:nvSpPr>
          <p:cNvPr id="4" name="Shape 2"/>
          <p:cNvSpPr/>
          <p:nvPr/>
        </p:nvSpPr>
        <p:spPr>
          <a:xfrm>
            <a:off x="1047750" y="3855723"/>
            <a:ext cx="8156278" cy="4337513"/>
          </a:xfrm>
          <a:prstGeom prst="roundRect">
            <a:avLst>
              <a:gd name="adj" fmla="val 4392"/>
            </a:avLst>
          </a:prstGeom>
          <a:ln w="5292">
            <a:solidFill>
              <a:srgbClr val="D8E7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3042" y="3861015"/>
            <a:ext cx="8145695" cy="617968"/>
          </a:xfrm>
          <a:prstGeom prst="rect">
            <a:avLst/>
          </a:prstGeom>
          <a:gradFill rotWithShape="1">
            <a:gsLst>
              <a:gs pos="0">
                <a:srgbClr val="6FC8ED">
                  <a:alpha val="100000"/>
                </a:srgbClr>
              </a:gs>
              <a:gs pos="100000">
                <a:srgbClr val="1E7FC4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6" name="Text 4"/>
          <p:cNvSpPr/>
          <p:nvPr/>
        </p:nvSpPr>
        <p:spPr>
          <a:xfrm>
            <a:off x="1319742" y="4032465"/>
            <a:ext cx="2820310" cy="313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영역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5770" y="4032465"/>
            <a:ext cx="4502955" cy="313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53042" y="4478983"/>
            <a:ext cx="8145695" cy="676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1053042" y="4478983"/>
            <a:ext cx="8145695" cy="9525"/>
          </a:xfrm>
          <a:prstGeom prst="rect">
            <a:avLst/>
          </a:prstGeom>
          <a:solidFill>
            <a:srgbClr val="D8E7F5"/>
          </a:solidFill>
          <a:ln/>
        </p:spPr>
      </p:sp>
      <p:sp>
        <p:nvSpPr>
          <p:cNvPr id="10" name="Text 8"/>
          <p:cNvSpPr/>
          <p:nvPr/>
        </p:nvSpPr>
        <p:spPr>
          <a:xfrm>
            <a:off x="1319742" y="4655724"/>
            <a:ext cx="2820310" cy="366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/ Backend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5770" y="4655724"/>
            <a:ext cx="4502955" cy="366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Streamlit · Python · FastAPI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53042" y="5155159"/>
            <a:ext cx="8145695" cy="676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1053042" y="5155159"/>
            <a:ext cx="8145695" cy="9525"/>
          </a:xfrm>
          <a:prstGeom prst="rect">
            <a:avLst/>
          </a:prstGeom>
          <a:solidFill>
            <a:srgbClr val="D8E7F5"/>
          </a:solidFill>
          <a:ln/>
        </p:spPr>
      </p:sp>
      <p:sp>
        <p:nvSpPr>
          <p:cNvPr id="14" name="Text 12"/>
          <p:cNvSpPr/>
          <p:nvPr/>
        </p:nvSpPr>
        <p:spPr>
          <a:xfrm>
            <a:off x="1319742" y="5331900"/>
            <a:ext cx="2820310" cy="366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5770" y="5331900"/>
            <a:ext cx="4502955" cy="366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53042" y="5831334"/>
            <a:ext cx="8145695" cy="10042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1053042" y="5831334"/>
            <a:ext cx="8145695" cy="9525"/>
          </a:xfrm>
          <a:prstGeom prst="rect">
            <a:avLst/>
          </a:prstGeom>
          <a:solidFill>
            <a:srgbClr val="D8E7F5"/>
          </a:solidFill>
          <a:ln/>
        </p:spPr>
      </p:sp>
      <p:sp>
        <p:nvSpPr>
          <p:cNvPr id="18" name="Text 16"/>
          <p:cNvSpPr/>
          <p:nvPr/>
        </p:nvSpPr>
        <p:spPr>
          <a:xfrm>
            <a:off x="1319742" y="6008076"/>
            <a:ext cx="2820310" cy="694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날씨 · 위험도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5770" y="6008076"/>
            <a:ext cx="4502955" cy="694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기상청 단기예보·영향예보 API + 규칙 기반 알고리즘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53042" y="6835593"/>
            <a:ext cx="8145695" cy="676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1053042" y="6835593"/>
            <a:ext cx="8145695" cy="9525"/>
          </a:xfrm>
          <a:prstGeom prst="rect">
            <a:avLst/>
          </a:prstGeom>
          <a:solidFill>
            <a:srgbClr val="D8E7F5"/>
          </a:solidFill>
          <a:ln/>
        </p:spPr>
      </p:sp>
      <p:sp>
        <p:nvSpPr>
          <p:cNvPr id="22" name="Text 20"/>
          <p:cNvSpPr/>
          <p:nvPr/>
        </p:nvSpPr>
        <p:spPr>
          <a:xfrm>
            <a:off x="1319742" y="7012335"/>
            <a:ext cx="2820310" cy="366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쉼터 · 지도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75770" y="7012335"/>
            <a:ext cx="4502955" cy="366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행안부 쉼터 API · Folium / Kakao Map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53042" y="7511769"/>
            <a:ext cx="8145695" cy="6761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3042" y="7511769"/>
            <a:ext cx="8145695" cy="9525"/>
          </a:xfrm>
          <a:prstGeom prst="rect">
            <a:avLst/>
          </a:prstGeom>
          <a:solidFill>
            <a:srgbClr val="D8E7F5"/>
          </a:solidFill>
          <a:ln/>
        </p:spPr>
      </p:sp>
      <p:sp>
        <p:nvSpPr>
          <p:cNvPr id="26" name="Text 24"/>
          <p:cNvSpPr/>
          <p:nvPr/>
        </p:nvSpPr>
        <p:spPr>
          <a:xfrm>
            <a:off x="1319742" y="7688511"/>
            <a:ext cx="2820310" cy="366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스케줄링 · AI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5770" y="7688511"/>
            <a:ext cx="4502955" cy="3660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4C64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APScheduler · Claude / OpenAI API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813561" y="4567866"/>
            <a:ext cx="7426689" cy="2913311"/>
          </a:xfrm>
          <a:prstGeom prst="roundRect">
            <a:avLst>
              <a:gd name="adj" fmla="val 7847"/>
            </a:avLst>
          </a:prstGeom>
          <a:gradFill rotWithShape="1">
            <a:gsLst>
              <a:gs pos="0">
                <a:srgbClr val="6FC8ED">
                  <a:alpha val="100000"/>
                </a:srgbClr>
              </a:gs>
              <a:gs pos="100000">
                <a:srgbClr val="1E7FC4">
                  <a:alpha val="100000"/>
                </a:srgbClr>
              </a:gs>
            </a:gsLst>
            <a:lin ang="2700000" scaled="0"/>
          </a:gradFill>
          <a:ln/>
        </p:spPr>
      </p:sp>
      <p:sp>
        <p:nvSpPr>
          <p:cNvPr id="29" name="Shape 27"/>
          <p:cNvSpPr/>
          <p:nvPr/>
        </p:nvSpPr>
        <p:spPr>
          <a:xfrm>
            <a:off x="16002001" y="4091616"/>
            <a:ext cx="1714500" cy="171450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194561" y="5025017"/>
            <a:ext cx="7331158" cy="3132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75" kern="0" dirty="0">
                <a:solidFill>
                  <a:srgbClr val="0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설계 원칙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0194561" y="5490683"/>
            <a:ext cx="733115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위험도 계산은 규칙 기반 알고리즘</a:t>
            </a:r>
            <a:endParaRPr lang="en-US" sz="2250" dirty="0"/>
          </a:p>
        </p:txBody>
      </p:sp>
      <p:sp>
        <p:nvSpPr>
          <p:cNvPr id="32" name="Text 30"/>
          <p:cNvSpPr/>
          <p:nvPr/>
        </p:nvSpPr>
        <p:spPr>
          <a:xfrm>
            <a:off x="10194561" y="6052592"/>
            <a:ext cx="7331158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645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LLM은 결과를 설명하는 역할로 한정</a:t>
            </a:r>
            <a:endParaRPr lang="en-US" sz="2250" dirty="0"/>
          </a:p>
        </p:txBody>
      </p:sp>
      <p:sp>
        <p:nvSpPr>
          <p:cNvPr id="33" name="Text 31"/>
          <p:cNvSpPr/>
          <p:nvPr/>
        </p:nvSpPr>
        <p:spPr>
          <a:xfrm>
            <a:off x="10194561" y="6709751"/>
            <a:ext cx="7331158" cy="352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650" dirty="0">
                <a:solidFill>
                  <a:srgbClr val="BFE6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안전 판단은 검증 가능하고 설명 가능한 규칙에 기반합니다.</a:t>
            </a:r>
            <a:endParaRPr lang="en-US" sz="1650" dirty="0"/>
          </a:p>
        </p:txBody>
      </p:sp>
      <p:sp>
        <p:nvSpPr>
          <p:cNvPr id="34" name="Text 32"/>
          <p:cNvSpPr/>
          <p:nvPr/>
        </p:nvSpPr>
        <p:spPr>
          <a:xfrm>
            <a:off x="1047750" y="9613967"/>
            <a:ext cx="839192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8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35" name="Text 33"/>
          <p:cNvSpPr/>
          <p:nvPr/>
        </p:nvSpPr>
        <p:spPr>
          <a:xfrm>
            <a:off x="16563001" y="9566342"/>
            <a:ext cx="7534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06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1" cy="10287000"/>
          </a:xfrm>
          <a:prstGeom prst="rect">
            <a:avLst/>
          </a:prstGeom>
          <a:gradFill rotWithShape="1">
            <a:gsLst>
              <a:gs pos="0">
                <a:srgbClr val="EAF8FF">
                  <a:alpha val="100000"/>
                </a:srgbClr>
              </a:gs>
              <a:gs pos="40000">
                <a:srgbClr val="BEE7F7">
                  <a:alpha val="100000"/>
                </a:srgbClr>
              </a:gs>
              <a:gs pos="75000">
                <a:srgbClr val="6FC8ED">
                  <a:alpha val="100000"/>
                </a:srgbClr>
              </a:gs>
              <a:gs pos="100000">
                <a:srgbClr val="2E9AD9">
                  <a:alpha val="100000"/>
                </a:srgbClr>
              </a:gs>
            </a:gsLst>
            <a:path path="circle">
              <a:fillToRect l="85000" t="15000" r="15000" b="85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-1524000" y="-1905000"/>
            <a:ext cx="5715000" cy="5715000"/>
          </a:xfrm>
          <a:prstGeom prst="ellipse">
            <a:avLst/>
          </a:prstGeom>
          <a:gradFill rotWithShape="1">
            <a:gsLst>
              <a:gs pos="0">
                <a:srgbClr val="FFFFFF">
                  <a:alpha val="50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4" name="Text 2"/>
          <p:cNvSpPr/>
          <p:nvPr/>
        </p:nvSpPr>
        <p:spPr>
          <a:xfrm>
            <a:off x="1047750" y="914384"/>
            <a:ext cx="17811751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1E5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47750" y="1390634"/>
            <a:ext cx="17811751" cy="736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500" b="1" spc="-75" kern="0" dirty="0">
                <a:solidFill>
                  <a:srgbClr val="0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가족까지 안심시키는 폭염 안전 서비스</a:t>
            </a:r>
            <a:endParaRPr lang="en-US" sz="4500" dirty="0"/>
          </a:p>
        </p:txBody>
      </p:sp>
      <p:sp>
        <p:nvSpPr>
          <p:cNvPr id="6" name="Shape 4"/>
          <p:cNvSpPr/>
          <p:nvPr/>
        </p:nvSpPr>
        <p:spPr>
          <a:xfrm>
            <a:off x="1047750" y="2508168"/>
            <a:ext cx="7791484" cy="6461208"/>
          </a:xfrm>
          <a:prstGeom prst="roundRect">
            <a:avLst>
              <a:gd name="adj" fmla="val 3538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466784" y="2965318"/>
            <a:ext cx="7648757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5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기대 효과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466784" y="3457443"/>
            <a:ext cx="7648757" cy="495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250" dirty="0">
                <a:solidFill>
                  <a:srgbClr val="0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폭염 취약계층의 온열질환 예방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466784" y="4028860"/>
            <a:ext cx="7648757" cy="495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355"/>
              </a:lnSpc>
              <a:buNone/>
            </a:pPr>
            <a:r>
              <a:rPr lang="en-US" sz="2250" dirty="0">
                <a:solidFill>
                  <a:srgbClr val="0A3A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보호자의 실시간 안심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448767" y="2508168"/>
            <a:ext cx="7791484" cy="6461208"/>
          </a:xfrm>
          <a:prstGeom prst="roundRect">
            <a:avLst>
              <a:gd name="adj" fmla="val 3538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9867801" y="2965318"/>
            <a:ext cx="7648757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b="1" dirty="0">
                <a:solidFill>
                  <a:srgbClr val="1E56C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확장 방향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67801" y="3457443"/>
            <a:ext cx="7648757" cy="392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55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카카오톡 알림 연동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867801" y="3964368"/>
            <a:ext cx="7648757" cy="392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55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지자체 협업 · 실시간 쉼터 혼잡도 반영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9867801" y="4471293"/>
            <a:ext cx="7648757" cy="3926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155A9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다른 자연재해(한파 등)로 확장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2095500" y="8550341"/>
            <a:ext cx="17811751" cy="292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75" kern="0" dirty="0">
                <a:solidFill>
                  <a:srgbClr val="8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더위쉼표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0" y="8804342"/>
            <a:ext cx="17811751" cy="339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AA0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06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2026-08-18T05:34:47Z</dcterms:created>
  <dcterms:modified xsi:type="dcterms:W3CDTF">2026-08-18T05:34:47Z</dcterms:modified>
</cp:coreProperties>
</file>
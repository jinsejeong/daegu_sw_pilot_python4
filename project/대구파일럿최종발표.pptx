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더위쉼표 프로젝트 전체 산출물 발표를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 12항목의 전체 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항목, 학습내용입니다.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기획부터 UX 마무리까지 11단계로 진행됐습니다.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학습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항목, 개발내용과 RFP 정리입니다.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요구사항 FUR 18건의 구현 상태입니다.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로직·데이터·인터페이스·AI 요구사항은 대부분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문제해결 방향 결정 전반부입니다.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문제해결 방향 결정 후반부입니다.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항목, 시퀀스 다이어그램입니다.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백엔드 경유가 기본, 실패 시 로컬 직접호출로 폴백합니다.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보호자 모드는 외출 세션과 이벤트 로그 중심으로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항목, 데이터 구조화입니다.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실API 응답 필드를 내부 스키마로 정규화했습니다.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처리 파이프라인과 활동유형별 반경입니다.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번째 항목, ERD입니다.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요청·결과·안내문, 그리고 외출 세션 계열 테이블로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번째 항목, 적정기술 선택입니다.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후보와 판단 기준, 결론을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MVP는 체크포인트 중심으로 11단계로 진행했습니다.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일곱 번째 항목, 아키텍처 정의입니다.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프론트·백엔드·로직·데이터·외부서비스 5계층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여덟 번째 항목, 개발시퀀스 정의입니다.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Phase 전환마다 데모 가능 여부를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아홉 번째 항목, API 연동 문서입니다.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엔드포인트를 잘못 짚었다가 플랫폼 자체를 재확인한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설명 역할로 제한하고, DB는 환경변수로 분기합니다.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 번째 항목, 개발 진행입니다.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최소 형태의 매칭 로직과 화면 골격입니다.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7가지 실패 상황과 처리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추가 직후 바로 테스트를 돌려 회귀를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열한 번째 항목, 결과물 시연 및 리뷰입니다.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모드선택부터 전체 쉼터 보기까지 6단계로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RFP 대비 달성도와 한계를 솔직하게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항목, 후기입니다.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회고 포인트입니다. 팀별 소감은 각자 추가합니다.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1" y="5905500"/>
            <a:ext cx="5905500" cy="5905500"/>
          </a:xfrm>
          <a:prstGeom prst="ellipse">
            <a:avLst/>
          </a:prstGeom>
          <a:solidFill>
            <a:srgbClr val="E4ECFB"/>
          </a:solidFill>
          <a:ln/>
        </p:spPr>
      </p:sp>
      <p:sp>
        <p:nvSpPr>
          <p:cNvPr id="3" name="Shape 1"/>
          <p:cNvSpPr/>
          <p:nvPr/>
        </p:nvSpPr>
        <p:spPr>
          <a:xfrm>
            <a:off x="14478001" y="1143000"/>
            <a:ext cx="2095500" cy="209550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151518"/>
            <a:ext cx="1760220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SAFETY SERVICE · PROJECT DELIVERABLES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3708136"/>
            <a:ext cx="17602201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52"/>
              </a:lnSpc>
              <a:buNone/>
            </a:pPr>
            <a:r>
              <a:rPr lang="en-US" sz="11250" b="1" spc="-337" kern="0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5379723"/>
            <a:ext cx="17602201" cy="551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취약계층을 위한 외출 안전 도우미 — 전체 산출물 12항목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6807399"/>
            <a:ext cx="125599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python4팀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32328" y="6812691"/>
            <a:ext cx="370787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5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박동훈 · 서지희 · 정세진 · 박준호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12653" y="6812691"/>
            <a:ext cx="108459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E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838150"/>
            <a:ext cx="179376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219150"/>
            <a:ext cx="17937626" cy="784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12항목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534" y="249865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6284" y="276530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6284" y="310075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학습내용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6284" y="3528301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전체 정리 · 학습 포인트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96017" y="249865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81767" y="276530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81767" y="310075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개발내용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81767" y="3528301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· 문제해결 방향 결정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001500" y="249865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287251" y="276530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87251" y="310075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87251" y="3528301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 · 보호자 모드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90534" y="425846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76284" y="452511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76284" y="486056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구조화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76284" y="528811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매핑 · 파이프라인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496017" y="425846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81767" y="452511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81767" y="4860561"/>
            <a:ext cx="519691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81767" y="5266945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테이블 · 설계 특징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001500" y="425846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287251" y="452511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87251" y="486056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적정기술 선택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287251" y="528811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전개 · MVP 시퀀스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90534" y="601827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76284" y="628492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76284" y="662037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정의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76284" y="704792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분리 · 다중 폴백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496017" y="601827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81767" y="628492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81767" y="662037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개발시퀀스 정의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781767" y="704792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~ Phase 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001500" y="601827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287251" y="628492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287251" y="6620371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 문서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2287251" y="704792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· Claude · Supabase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90534" y="777808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76284" y="804473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76284" y="8380182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진행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1276284" y="880773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스켈레톤 · 에러처리 · 테스트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6496017" y="777808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81767" y="804473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81767" y="8380182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및 리뷰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781767" y="880773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시나리오 · 자체 리뷰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2001500" y="7778089"/>
            <a:ext cx="5295966" cy="1550293"/>
          </a:xfrm>
          <a:prstGeom prst="roundRect">
            <a:avLst>
              <a:gd name="adj" fmla="val 11059"/>
            </a:avLst>
          </a:prstGeom>
          <a:solidFill>
            <a:srgbClr val="0B3B6F"/>
          </a:solidFill>
          <a:ln/>
        </p:spPr>
      </p:sp>
      <p:sp>
        <p:nvSpPr>
          <p:cNvPr id="49" name="Text 47"/>
          <p:cNvSpPr/>
          <p:nvPr/>
        </p:nvSpPr>
        <p:spPr>
          <a:xfrm>
            <a:off x="12287251" y="8044739"/>
            <a:ext cx="51969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287251" y="8380182"/>
            <a:ext cx="519691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2287251" y="8807732"/>
            <a:ext cx="51969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잘된 점 · 어려운 점 · 배운 점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90534" y="9328382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6618232" y="9328382"/>
            <a:ext cx="7554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학습내용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진행에 대한 전체 정리 · 학습 포인트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59399" y="9271000"/>
            <a:ext cx="7618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학습내용 — 1.1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71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진행에 대한 전체 정리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90534" y="2154701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19068" y="2326101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352" y="2326101"/>
            <a:ext cx="568459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기획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733352" y="2681635"/>
            <a:ext cx="5684590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기능 구조로 PRD 작성 (위험도·시간추천·쉼터·AI·보호자)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9334501" y="2154701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63034" y="2326101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077319" y="2326101"/>
            <a:ext cx="436735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축소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0077319" y="2681635"/>
            <a:ext cx="4367353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"위치·시간 → 쉼터 추천" 단일 플로우로 재정의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90534" y="3331187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19068" y="3502587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33352" y="3502587"/>
            <a:ext cx="441482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MVP 1차 구현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733352" y="3858121"/>
            <a:ext cx="4414829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CSV(대구 107건) 기반 Streamlit 단일 앱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334501" y="3331187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63034" y="3502587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077319" y="3502587"/>
            <a:ext cx="416471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고도화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077319" y="3858121"/>
            <a:ext cx="4164715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지도, 브랜드 컬러, 로고, 반응형 카드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90534" y="4507673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19068" y="4679074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33352" y="4679074"/>
            <a:ext cx="483311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재정렬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733352" y="5034608"/>
            <a:ext cx="4833111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활동유형 재도입, Haversine 실거리, 반경검색·확장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334501" y="4507673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63034" y="4679074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077319" y="4679074"/>
            <a:ext cx="44679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확장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0077319" y="5034608"/>
            <a:ext cx="4467945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백엔드 + SQLite 저장, 로컬 폴백 유지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990534" y="5684160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19068" y="5855560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733352" y="5855560"/>
            <a:ext cx="518445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실API 연동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733352" y="6211094"/>
            <a:ext cx="5184453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safetydata.go.kr 무더위쉼터 API, 실좌표·실주소 확보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9334501" y="5684160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563034" y="5855560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077319" y="5855560"/>
            <a:ext cx="354879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정합성 수정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0077319" y="6211094"/>
            <a:ext cx="3548798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오분류 버그, 시간 파싱 방어 코드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990534" y="6860646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19068" y="7032046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733352" y="7032046"/>
            <a:ext cx="430759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클라우드 전환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733352" y="7387580"/>
            <a:ext cx="4307599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→ Supabase 듀얼 백엔드, 자동 폴백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9334501" y="6860646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0B3B6F"/>
          </a:solidFill>
          <a:ln/>
        </p:spPr>
      </p:sp>
      <p:sp>
        <p:nvSpPr>
          <p:cNvPr id="41" name="Text 39"/>
          <p:cNvSpPr/>
          <p:nvPr/>
        </p:nvSpPr>
        <p:spPr>
          <a:xfrm>
            <a:off x="9563034" y="7032046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⑩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077319" y="7032046"/>
            <a:ext cx="459873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모드 풀구현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0077319" y="7387580"/>
            <a:ext cx="4598731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제외 항목이었으나 팀 결정으로 전 기능 완성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990534" y="8037133"/>
            <a:ext cx="7962966" cy="1005086"/>
          </a:xfrm>
          <a:prstGeom prst="roundRect">
            <a:avLst>
              <a:gd name="adj" fmla="val 13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219068" y="8208533"/>
            <a:ext cx="399984" cy="700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⑪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733352" y="8208533"/>
            <a:ext cx="492069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마무리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733352" y="8564067"/>
            <a:ext cx="4920696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9"/>
              </a:lnSpc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시작화면 모드선택, 메뉴 접근성, 로고 클릭 이슈 수정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9334501" y="8037133"/>
            <a:ext cx="7962966" cy="1005086"/>
          </a:xfrm>
          <a:prstGeom prst="roundRect">
            <a:avLst>
              <a:gd name="adj" fmla="val 13268"/>
            </a:avLst>
          </a:prstGeom>
          <a:ln w="15875">
            <a:solidFill>
              <a:srgbClr val="C3D3EA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578910" y="8380843"/>
            <a:ext cx="5607463" cy="35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23"/>
              </a:lnSpc>
              <a:buNone/>
            </a:pPr>
            <a:r>
              <a:rPr lang="en-US" sz="1725" dirty="0">
                <a:solidFill>
                  <a:srgbClr val="5B8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단계 전환마다 </a:t>
            </a:r>
            <a:pPr algn="l" indent="0" marL="0">
              <a:lnSpc>
                <a:spcPct val="127723"/>
              </a:lnSpc>
              <a:buNone/>
            </a:pPr>
            <a:r>
              <a:rPr lang="en-US" sz="1725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데모 가능한가"</a:t>
            </a:r>
            <a:pPr algn="l" indent="0" marL="0">
              <a:lnSpc>
                <a:spcPct val="127723"/>
              </a:lnSpc>
              <a:buNone/>
            </a:pPr>
            <a:r>
              <a:rPr lang="en-US" sz="1725" dirty="0">
                <a:solidFill>
                  <a:srgbClr val="5B8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체크포인트로 유지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6610459" y="9309117"/>
            <a:ext cx="76320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838150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학습내용 — 학습 포인트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215926"/>
            <a:ext cx="1793762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가지를 배웠다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90534" y="2409693"/>
            <a:ext cx="8020100" cy="2410520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534" y="2771593"/>
            <a:ext cx="79839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534" y="3164169"/>
            <a:ext cx="7983910" cy="45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요구사항은 계속 재조정된다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71534" y="3715494"/>
            <a:ext cx="7983910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제약으로 뺐던 기능이 정식 RFP를 받은 뒤 다시 필수로 복원됐다.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77284" y="2409693"/>
            <a:ext cx="8020183" cy="2410520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58284" y="2771593"/>
            <a:ext cx="798400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58284" y="3164169"/>
            <a:ext cx="7984001" cy="45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받아보기 전엔 스펙을 확신할 수 없다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58284" y="3715494"/>
            <a:ext cx="7475928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추정 엔드포인트는 존재하지 않는 서비스였고, 실제로는 다른 플랫폼의 API였다.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534" y="5086863"/>
            <a:ext cx="8020100" cy="2410520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534" y="5448763"/>
            <a:ext cx="79839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534" y="5841339"/>
            <a:ext cx="7983910" cy="45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 코드는 실데이터로 검증해야 한다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71534" y="6392664"/>
            <a:ext cx="7475843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"해운대구"에 "대구"가 포함되는 식의 숨은 버그는 실데이터를 돌려봐야 드러난다.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77284" y="5086863"/>
            <a:ext cx="8020183" cy="2410520"/>
          </a:xfrm>
          <a:prstGeom prst="roundRect">
            <a:avLst>
              <a:gd name="adj" fmla="val 7903"/>
            </a:avLst>
          </a:prstGeom>
          <a:solidFill>
            <a:srgbClr val="0B3B6F"/>
          </a:solidFill>
          <a:ln/>
        </p:spPr>
      </p:sp>
      <p:sp>
        <p:nvSpPr>
          <p:cNvPr id="17" name="Text 15"/>
          <p:cNvSpPr/>
          <p:nvPr/>
        </p:nvSpPr>
        <p:spPr>
          <a:xfrm>
            <a:off x="9658284" y="5448763"/>
            <a:ext cx="798400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58284" y="5841339"/>
            <a:ext cx="7984001" cy="45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폴백 설계가 실제로 값을 발휘했다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58284" y="6392664"/>
            <a:ext cx="7475928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백엔드·실API·AI·DB 4곳 모두 "실패해도 안 죽는" 구조 덕분에 항상 시연 가능한 상태를 유지했다.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0534" y="91948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616165" y="9194850"/>
            <a:ext cx="7575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개발내용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요구사항 정리 · 문제해결 방향 결정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60226" y="9271000"/>
            <a:ext cx="7609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66750"/>
            <a:ext cx="496790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개발내용 — 2.1 RFP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1044525"/>
            <a:ext cx="4967900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요구사항 (FUR)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2903977" y="1393775"/>
            <a:ext cx="168094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구현·검증완료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79746" y="1393775"/>
            <a:ext cx="115123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부분구현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414" y="1393775"/>
            <a:ext cx="157117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미구현(선택)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7250" y="2032992"/>
            <a:ext cx="8115267" cy="536790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7250" y="2032992"/>
            <a:ext cx="8115267" cy="525859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2166342"/>
            <a:ext cx="831321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069571" y="2166342"/>
            <a:ext cx="2948312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096801" y="2166342"/>
            <a:ext cx="768499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6093900" y="2166342"/>
            <a:ext cx="2798669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57250" y="3089507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2682677"/>
            <a:ext cx="831321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2069571" y="2682677"/>
            <a:ext cx="2948312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조건 입력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5096801" y="2682677"/>
            <a:ext cx="768499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093900" y="2682677"/>
            <a:ext cx="2798669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선택으로 대체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857250" y="3628099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" y="3218623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2069571" y="3218623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위치정보 처리(GPS)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5096801" y="3218623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6093900" y="3218623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드롭다운 대체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857250" y="4166692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3757216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2069571" y="3757216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활동유형 선택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096801" y="3757216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6093900" y="3757216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5종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857250" y="4705284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4295808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2069571" y="4295808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반경 설정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5096801" y="4295808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6093900" y="4295808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0.5~2.0km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857250" y="5243877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" y="4834401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2069571" y="4834401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 데이터 조회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5096801" y="4834401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6093900" y="4834401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실API 연동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857250" y="5782469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700" y="5372993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2069571" y="5372993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 매칭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5096801" y="5372993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857250" y="6321061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3" name="Text 41"/>
          <p:cNvSpPr/>
          <p:nvPr/>
        </p:nvSpPr>
        <p:spPr>
          <a:xfrm>
            <a:off x="1028700" y="5911586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2069571" y="5911586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이용상태 판정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5096801" y="5911586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6093900" y="5911586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가능/곧마감/불가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857250" y="6859654"/>
            <a:ext cx="8115267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" y="6450178"/>
            <a:ext cx="83132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008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2069571" y="6450178"/>
            <a:ext cx="294831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계산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5096801" y="6450178"/>
            <a:ext cx="76849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6093900" y="6450178"/>
            <a:ext cx="279866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실좌표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1028700" y="6988771"/>
            <a:ext cx="831321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009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2069571" y="6988771"/>
            <a:ext cx="2948312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 정렬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5096801" y="6988771"/>
            <a:ext cx="768499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6093900" y="6988771"/>
            <a:ext cx="2798669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가능→거리→냉방</a:t>
            </a:r>
            <a:endParaRPr lang="en-US" sz="1725" dirty="0"/>
          </a:p>
        </p:txBody>
      </p:sp>
      <p:sp>
        <p:nvSpPr>
          <p:cNvPr id="56" name="Shape 54"/>
          <p:cNvSpPr/>
          <p:nvPr/>
        </p:nvSpPr>
        <p:spPr>
          <a:xfrm>
            <a:off x="9315401" y="2032992"/>
            <a:ext cx="8115350" cy="536790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315401" y="2032992"/>
            <a:ext cx="8115350" cy="525859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58" name="Text 56"/>
          <p:cNvSpPr/>
          <p:nvPr/>
        </p:nvSpPr>
        <p:spPr>
          <a:xfrm>
            <a:off x="9486851" y="2166342"/>
            <a:ext cx="703742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10400143" y="2166342"/>
            <a:ext cx="2882140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13363130" y="2166342"/>
            <a:ext cx="665973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14257702" y="2166342"/>
            <a:ext cx="3101934" cy="29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725" dirty="0"/>
          </a:p>
        </p:txBody>
      </p:sp>
      <p:sp>
        <p:nvSpPr>
          <p:cNvPr id="62" name="Shape 60"/>
          <p:cNvSpPr/>
          <p:nvPr/>
        </p:nvSpPr>
        <p:spPr>
          <a:xfrm>
            <a:off x="9315401" y="3089507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63" name="Text 61"/>
          <p:cNvSpPr/>
          <p:nvPr/>
        </p:nvSpPr>
        <p:spPr>
          <a:xfrm>
            <a:off x="9486851" y="2682677"/>
            <a:ext cx="703742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10400143" y="2682677"/>
            <a:ext cx="2882140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결과 제공(Top N)</a:t>
            </a:r>
            <a:endParaRPr lang="en-US" sz="1725" dirty="0"/>
          </a:p>
        </p:txBody>
      </p:sp>
      <p:sp>
        <p:nvSpPr>
          <p:cNvPr id="65" name="Text 63"/>
          <p:cNvSpPr/>
          <p:nvPr/>
        </p:nvSpPr>
        <p:spPr>
          <a:xfrm>
            <a:off x="13363130" y="2682677"/>
            <a:ext cx="665973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66" name="Shape 64"/>
          <p:cNvSpPr/>
          <p:nvPr/>
        </p:nvSpPr>
        <p:spPr>
          <a:xfrm>
            <a:off x="9315401" y="3628099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67" name="Text 65"/>
          <p:cNvSpPr/>
          <p:nvPr/>
        </p:nvSpPr>
        <p:spPr>
          <a:xfrm>
            <a:off x="9486851" y="3218623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</a:t>
            </a:r>
            <a:endParaRPr lang="en-US" sz="1725" dirty="0"/>
          </a:p>
        </p:txBody>
      </p:sp>
      <p:sp>
        <p:nvSpPr>
          <p:cNvPr id="68" name="Text 66"/>
          <p:cNvSpPr/>
          <p:nvPr/>
        </p:nvSpPr>
        <p:spPr>
          <a:xfrm>
            <a:off x="10400143" y="3218623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 상세정보</a:t>
            </a:r>
            <a:endParaRPr lang="en-US" sz="1725" dirty="0"/>
          </a:p>
        </p:txBody>
      </p:sp>
      <p:sp>
        <p:nvSpPr>
          <p:cNvPr id="69" name="Text 67"/>
          <p:cNvSpPr/>
          <p:nvPr/>
        </p:nvSpPr>
        <p:spPr>
          <a:xfrm>
            <a:off x="13363130" y="3218623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725" dirty="0"/>
          </a:p>
        </p:txBody>
      </p:sp>
      <p:sp>
        <p:nvSpPr>
          <p:cNvPr id="70" name="Text 68"/>
          <p:cNvSpPr/>
          <p:nvPr/>
        </p:nvSpPr>
        <p:spPr>
          <a:xfrm>
            <a:off x="14257702" y="3218623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코드-명칭 매핑표 미확보</a:t>
            </a:r>
            <a:endParaRPr lang="en-US" sz="1725" dirty="0"/>
          </a:p>
        </p:txBody>
      </p:sp>
      <p:sp>
        <p:nvSpPr>
          <p:cNvPr id="71" name="Shape 69"/>
          <p:cNvSpPr/>
          <p:nvPr/>
        </p:nvSpPr>
        <p:spPr>
          <a:xfrm>
            <a:off x="9315401" y="4166692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72" name="Text 70"/>
          <p:cNvSpPr/>
          <p:nvPr/>
        </p:nvSpPr>
        <p:spPr>
          <a:xfrm>
            <a:off x="9486851" y="3757216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012</a:t>
            </a:r>
            <a:endParaRPr lang="en-US" sz="1725" dirty="0"/>
          </a:p>
        </p:txBody>
      </p:sp>
      <p:sp>
        <p:nvSpPr>
          <p:cNvPr id="73" name="Text 71"/>
          <p:cNvSpPr/>
          <p:nvPr/>
        </p:nvSpPr>
        <p:spPr>
          <a:xfrm>
            <a:off x="10400143" y="3757216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근거 제공</a:t>
            </a:r>
            <a:endParaRPr lang="en-US" sz="1725" dirty="0"/>
          </a:p>
        </p:txBody>
      </p:sp>
      <p:sp>
        <p:nvSpPr>
          <p:cNvPr id="74" name="Text 72"/>
          <p:cNvSpPr/>
          <p:nvPr/>
        </p:nvSpPr>
        <p:spPr>
          <a:xfrm>
            <a:off x="13363130" y="3757216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75" name="Text 73"/>
          <p:cNvSpPr/>
          <p:nvPr/>
        </p:nvSpPr>
        <p:spPr>
          <a:xfrm>
            <a:off x="14257702" y="3757216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거리·상태·안내문구</a:t>
            </a:r>
            <a:endParaRPr lang="en-US" sz="1725" dirty="0"/>
          </a:p>
        </p:txBody>
      </p:sp>
      <p:sp>
        <p:nvSpPr>
          <p:cNvPr id="76" name="Shape 74"/>
          <p:cNvSpPr/>
          <p:nvPr/>
        </p:nvSpPr>
        <p:spPr>
          <a:xfrm>
            <a:off x="9315401" y="4705284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77" name="Text 75"/>
          <p:cNvSpPr/>
          <p:nvPr/>
        </p:nvSpPr>
        <p:spPr>
          <a:xfrm>
            <a:off x="9486851" y="4295808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013</a:t>
            </a:r>
            <a:endParaRPr lang="en-US" sz="1725" dirty="0"/>
          </a:p>
        </p:txBody>
      </p:sp>
      <p:sp>
        <p:nvSpPr>
          <p:cNvPr id="78" name="Text 76"/>
          <p:cNvSpPr/>
          <p:nvPr/>
        </p:nvSpPr>
        <p:spPr>
          <a:xfrm>
            <a:off x="10400143" y="4295808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조회</a:t>
            </a:r>
            <a:endParaRPr lang="en-US" sz="1725" dirty="0"/>
          </a:p>
        </p:txBody>
      </p:sp>
      <p:sp>
        <p:nvSpPr>
          <p:cNvPr id="79" name="Text 77"/>
          <p:cNvSpPr/>
          <p:nvPr/>
        </p:nvSpPr>
        <p:spPr>
          <a:xfrm>
            <a:off x="13363130" y="4295808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80" name="Text 78"/>
          <p:cNvSpPr/>
          <p:nvPr/>
        </p:nvSpPr>
        <p:spPr>
          <a:xfrm>
            <a:off x="14257702" y="4295808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실좌표</a:t>
            </a:r>
            <a:endParaRPr lang="en-US" sz="1725" dirty="0"/>
          </a:p>
        </p:txBody>
      </p:sp>
      <p:sp>
        <p:nvSpPr>
          <p:cNvPr id="81" name="Shape 79"/>
          <p:cNvSpPr/>
          <p:nvPr/>
        </p:nvSpPr>
        <p:spPr>
          <a:xfrm>
            <a:off x="9315401" y="5243877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82" name="Text 80"/>
          <p:cNvSpPr/>
          <p:nvPr/>
        </p:nvSpPr>
        <p:spPr>
          <a:xfrm>
            <a:off x="9486851" y="4834401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014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10400143" y="4834401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리스트/지도 전환</a:t>
            </a:r>
            <a:endParaRPr lang="en-US" sz="1725" dirty="0"/>
          </a:p>
        </p:txBody>
      </p:sp>
      <p:sp>
        <p:nvSpPr>
          <p:cNvPr id="84" name="Text 82"/>
          <p:cNvSpPr/>
          <p:nvPr/>
        </p:nvSpPr>
        <p:spPr>
          <a:xfrm>
            <a:off x="13363130" y="4834401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725" dirty="0"/>
          </a:p>
        </p:txBody>
      </p:sp>
      <p:sp>
        <p:nvSpPr>
          <p:cNvPr id="85" name="Text 83"/>
          <p:cNvSpPr/>
          <p:nvPr/>
        </p:nvSpPr>
        <p:spPr>
          <a:xfrm>
            <a:off x="14257702" y="4834401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표시로 대체</a:t>
            </a:r>
            <a:endParaRPr lang="en-US" sz="1725" dirty="0"/>
          </a:p>
        </p:txBody>
      </p:sp>
      <p:sp>
        <p:nvSpPr>
          <p:cNvPr id="86" name="Shape 84"/>
          <p:cNvSpPr/>
          <p:nvPr/>
        </p:nvSpPr>
        <p:spPr>
          <a:xfrm>
            <a:off x="9315401" y="5782469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87" name="Text 85"/>
          <p:cNvSpPr/>
          <p:nvPr/>
        </p:nvSpPr>
        <p:spPr>
          <a:xfrm>
            <a:off x="9486851" y="5372993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015</a:t>
            </a:r>
            <a:endParaRPr lang="en-US" sz="1725" dirty="0"/>
          </a:p>
        </p:txBody>
      </p:sp>
      <p:sp>
        <p:nvSpPr>
          <p:cNvPr id="88" name="Text 86"/>
          <p:cNvSpPr/>
          <p:nvPr/>
        </p:nvSpPr>
        <p:spPr>
          <a:xfrm>
            <a:off x="10400143" y="5372993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 조건 필터</a:t>
            </a:r>
            <a:endParaRPr lang="en-US" sz="1725" dirty="0"/>
          </a:p>
        </p:txBody>
      </p:sp>
      <p:sp>
        <p:nvSpPr>
          <p:cNvPr id="89" name="Text 87"/>
          <p:cNvSpPr/>
          <p:nvPr/>
        </p:nvSpPr>
        <p:spPr>
          <a:xfrm>
            <a:off x="13363130" y="5372993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725" dirty="0"/>
          </a:p>
        </p:txBody>
      </p:sp>
      <p:sp>
        <p:nvSpPr>
          <p:cNvPr id="90" name="Text 88"/>
          <p:cNvSpPr/>
          <p:nvPr/>
        </p:nvSpPr>
        <p:spPr>
          <a:xfrm>
            <a:off x="14257702" y="5372993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요구사항</a:t>
            </a:r>
            <a:endParaRPr lang="en-US" sz="1725" dirty="0"/>
          </a:p>
        </p:txBody>
      </p:sp>
      <p:sp>
        <p:nvSpPr>
          <p:cNvPr id="91" name="Shape 89"/>
          <p:cNvSpPr/>
          <p:nvPr/>
        </p:nvSpPr>
        <p:spPr>
          <a:xfrm>
            <a:off x="9315401" y="6321061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92" name="Text 90"/>
          <p:cNvSpPr/>
          <p:nvPr/>
        </p:nvSpPr>
        <p:spPr>
          <a:xfrm>
            <a:off x="9486851" y="5911586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016</a:t>
            </a:r>
            <a:endParaRPr lang="en-US" sz="1725" dirty="0"/>
          </a:p>
        </p:txBody>
      </p:sp>
      <p:sp>
        <p:nvSpPr>
          <p:cNvPr id="93" name="Text 91"/>
          <p:cNvSpPr/>
          <p:nvPr/>
        </p:nvSpPr>
        <p:spPr>
          <a:xfrm>
            <a:off x="10400143" y="5911586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방문 안내</a:t>
            </a:r>
            <a:endParaRPr lang="en-US" sz="1725" dirty="0"/>
          </a:p>
        </p:txBody>
      </p:sp>
      <p:sp>
        <p:nvSpPr>
          <p:cNvPr id="94" name="Text 92"/>
          <p:cNvSpPr/>
          <p:nvPr/>
        </p:nvSpPr>
        <p:spPr>
          <a:xfrm>
            <a:off x="13363130" y="5911586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725" dirty="0"/>
          </a:p>
        </p:txBody>
      </p:sp>
      <p:sp>
        <p:nvSpPr>
          <p:cNvPr id="95" name="Text 93"/>
          <p:cNvSpPr/>
          <p:nvPr/>
        </p:nvSpPr>
        <p:spPr>
          <a:xfrm>
            <a:off x="14257702" y="5911586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템플릿 폴백</a:t>
            </a:r>
            <a:endParaRPr lang="en-US" sz="1725" dirty="0"/>
          </a:p>
        </p:txBody>
      </p:sp>
      <p:sp>
        <p:nvSpPr>
          <p:cNvPr id="96" name="Shape 94"/>
          <p:cNvSpPr/>
          <p:nvPr/>
        </p:nvSpPr>
        <p:spPr>
          <a:xfrm>
            <a:off x="9315401" y="6859654"/>
            <a:ext cx="8115350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97" name="Text 95"/>
          <p:cNvSpPr/>
          <p:nvPr/>
        </p:nvSpPr>
        <p:spPr>
          <a:xfrm>
            <a:off x="9486851" y="6450178"/>
            <a:ext cx="703742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017</a:t>
            </a:r>
            <a:endParaRPr lang="en-US" sz="1725" dirty="0"/>
          </a:p>
        </p:txBody>
      </p:sp>
      <p:sp>
        <p:nvSpPr>
          <p:cNvPr id="98" name="Text 96"/>
          <p:cNvSpPr/>
          <p:nvPr/>
        </p:nvSpPr>
        <p:spPr>
          <a:xfrm>
            <a:off x="10400143" y="6450178"/>
            <a:ext cx="2882140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기상정보 제공</a:t>
            </a:r>
            <a:endParaRPr lang="en-US" sz="1725" dirty="0"/>
          </a:p>
        </p:txBody>
      </p:sp>
      <p:sp>
        <p:nvSpPr>
          <p:cNvPr id="99" name="Text 97"/>
          <p:cNvSpPr/>
          <p:nvPr/>
        </p:nvSpPr>
        <p:spPr>
          <a:xfrm>
            <a:off x="13363130" y="6450178"/>
            <a:ext cx="665973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725" dirty="0"/>
          </a:p>
        </p:txBody>
      </p:sp>
      <p:sp>
        <p:nvSpPr>
          <p:cNvPr id="100" name="Text 98"/>
          <p:cNvSpPr/>
          <p:nvPr/>
        </p:nvSpPr>
        <p:spPr>
          <a:xfrm>
            <a:off x="14257702" y="6450178"/>
            <a:ext cx="310193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배너만</a:t>
            </a:r>
            <a:endParaRPr lang="en-US" sz="1725" dirty="0"/>
          </a:p>
        </p:txBody>
      </p:sp>
      <p:sp>
        <p:nvSpPr>
          <p:cNvPr id="101" name="Text 99"/>
          <p:cNvSpPr/>
          <p:nvPr/>
        </p:nvSpPr>
        <p:spPr>
          <a:xfrm>
            <a:off x="9486851" y="6988771"/>
            <a:ext cx="703742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018</a:t>
            </a:r>
            <a:endParaRPr lang="en-US" sz="1725" dirty="0"/>
          </a:p>
        </p:txBody>
      </p:sp>
      <p:sp>
        <p:nvSpPr>
          <p:cNvPr id="102" name="Text 100"/>
          <p:cNvSpPr/>
          <p:nvPr/>
        </p:nvSpPr>
        <p:spPr>
          <a:xfrm>
            <a:off x="10400143" y="6988771"/>
            <a:ext cx="2882140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기록</a:t>
            </a:r>
            <a:endParaRPr lang="en-US" sz="1725" dirty="0"/>
          </a:p>
        </p:txBody>
      </p:sp>
      <p:sp>
        <p:nvSpPr>
          <p:cNvPr id="103" name="Text 101"/>
          <p:cNvSpPr/>
          <p:nvPr/>
        </p:nvSpPr>
        <p:spPr>
          <a:xfrm>
            <a:off x="13363130" y="6988771"/>
            <a:ext cx="665973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725" dirty="0"/>
          </a:p>
        </p:txBody>
      </p:sp>
      <p:sp>
        <p:nvSpPr>
          <p:cNvPr id="104" name="Text 102"/>
          <p:cNvSpPr/>
          <p:nvPr/>
        </p:nvSpPr>
        <p:spPr>
          <a:xfrm>
            <a:off x="14257702" y="6988771"/>
            <a:ext cx="3101934" cy="32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외출세션으로 대체</a:t>
            </a:r>
            <a:endParaRPr lang="en-US" sz="1725" dirty="0"/>
          </a:p>
        </p:txBody>
      </p:sp>
      <p:sp>
        <p:nvSpPr>
          <p:cNvPr id="105" name="Text 103"/>
          <p:cNvSpPr/>
          <p:nvPr/>
        </p:nvSpPr>
        <p:spPr>
          <a:xfrm>
            <a:off x="857250" y="93662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06" name="Text 104"/>
          <p:cNvSpPr/>
          <p:nvPr/>
        </p:nvSpPr>
        <p:spPr>
          <a:xfrm>
            <a:off x="16762926" y="9366250"/>
            <a:ext cx="74402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838150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개발내용 — 2.1 RFP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215926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로직 · 데이터 · 인터페이스 · AI 요구사항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318660"/>
            <a:ext cx="8020100" cy="1946755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534" y="2661543"/>
            <a:ext cx="220345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 · 추천 로직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43862" y="2682710"/>
            <a:ext cx="196434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001~008 전체 ✅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71534" y="3184343"/>
            <a:ext cx="7475843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반경검색 · 운영시간판정 · 마감임박판정 · 거리계산 · 우선순위정렬 · 거리기반정렬 · 반경확장 · 추천근거 설명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77284" y="2318660"/>
            <a:ext cx="8020183" cy="1946755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58284" y="2661543"/>
            <a:ext cx="1875946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· 데이터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627864" y="2682710"/>
            <a:ext cx="141746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001~007 ✅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8284" y="3184343"/>
            <a:ext cx="798400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DAR-008(데이터 갱신)은 1시간 캐시(ttl)로 ⚠️ 부분구현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534" y="4532065"/>
            <a:ext cx="8020100" cy="1946755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534" y="4874948"/>
            <a:ext cx="2980176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· 외부 인터페이스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41030" y="4896115"/>
            <a:ext cx="141746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001~005 ✅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71534" y="5397748"/>
            <a:ext cx="798391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SIR-006(기상청 연동) ❌ — 선택 요구사항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77284" y="4532065"/>
            <a:ext cx="8020183" cy="1946755"/>
          </a:xfrm>
          <a:prstGeom prst="roundRect">
            <a:avLst>
              <a:gd name="adj" fmla="val 9786"/>
            </a:avLst>
          </a:prstGeom>
          <a:solidFill>
            <a:srgbClr val="0B3B6F"/>
          </a:solidFill>
          <a:ln/>
        </p:spPr>
      </p:sp>
      <p:sp>
        <p:nvSpPr>
          <p:cNvPr id="17" name="Text 15"/>
          <p:cNvSpPr/>
          <p:nvPr/>
        </p:nvSpPr>
        <p:spPr>
          <a:xfrm>
            <a:off x="9658284" y="4874948"/>
            <a:ext cx="240837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· AI 요구사항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130695" y="4896115"/>
            <a:ext cx="196434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001~005 전체 ✅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58284" y="5397748"/>
            <a:ext cx="7475928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판단하지 않고 시스템 계산값만 문장으로 조립 · 고유명사는 문자열 치환으로 할루시네이션 방지 · 장애 시 템플릿 폴백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0534" y="91948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614098" y="9194850"/>
            <a:ext cx="75956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개발내용 — 2.2 (1/2)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문제해결 방향 결정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109143"/>
            <a:ext cx="16306933" cy="4692551"/>
          </a:xfrm>
          <a:prstGeom prst="roundRect">
            <a:avLst>
              <a:gd name="adj" fmla="val 32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534" y="2109143"/>
            <a:ext cx="16306933" cy="633842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238184" y="2280593"/>
            <a:ext cx="353570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094635" y="2280593"/>
            <a:ext cx="532967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696129" y="2280593"/>
            <a:ext cx="6559157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내용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534" y="3412381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0" name="Text 8"/>
          <p:cNvSpPr/>
          <p:nvPr/>
        </p:nvSpPr>
        <p:spPr>
          <a:xfrm>
            <a:off x="1238184" y="2933485"/>
            <a:ext cx="3535709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활동유형 재도입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094635" y="2933485"/>
            <a:ext cx="5329674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MVP에서 제거했었음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696129" y="2933485"/>
            <a:ext cx="6559157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RFP가 필수로 명시 → 복원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534" y="408971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184" y="3608173"/>
            <a:ext cx="3535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거리계산 방식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094635" y="3608173"/>
            <a:ext cx="53296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 없이 텍스트 필터만 사용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696129" y="3608173"/>
            <a:ext cx="655915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도입, 사용자 위치는 지역중심좌표 프록시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90534" y="4767048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184" y="4285506"/>
            <a:ext cx="3535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 확장 폴백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094635" y="4285506"/>
            <a:ext cx="53296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좁은 반경에서 결과 0건 가능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696129" y="4285506"/>
            <a:ext cx="655915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1배 → 2배 → 4배 → 전체 4단계 자동 확장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90534" y="5444381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184" y="4962840"/>
            <a:ext cx="3535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API 재확인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094635" y="4962840"/>
            <a:ext cx="53296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추정 엔드포인트가 실존하지 않음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696129" y="4962840"/>
            <a:ext cx="655915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재난안전데이터공유플랫폼 요청 형식으로 전면 재작성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90534" y="612171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1238184" y="5640173"/>
            <a:ext cx="3535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필터 정확도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5094635" y="5640173"/>
            <a:ext cx="53296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"대구" 포함검사가 "해운대구"에 오탐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696129" y="5640173"/>
            <a:ext cx="655915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시도 정식명칭("대구광역시") 단위 매칭으로 변경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38184" y="6317506"/>
            <a:ext cx="3535709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데이터 방어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5094635" y="6317506"/>
            <a:ext cx="5329674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실API의 2400(24시) 값이 크래시 유발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0696129" y="6317506"/>
            <a:ext cx="6559157" cy="33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 + 사용 시점 2단계 방어 코드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6612692" y="9309117"/>
            <a:ext cx="7609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개발내용 — 2.2 (2/2)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문제해결 방향 결정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109143"/>
            <a:ext cx="16306933" cy="4485845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534" y="2109143"/>
            <a:ext cx="16306933" cy="633842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238184" y="2280593"/>
            <a:ext cx="3535709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094635" y="2280593"/>
            <a:ext cx="532967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696129" y="2280593"/>
            <a:ext cx="6559157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내용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534" y="3450415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0" name="Text 8"/>
          <p:cNvSpPr/>
          <p:nvPr/>
        </p:nvSpPr>
        <p:spPr>
          <a:xfrm>
            <a:off x="1238184" y="2952535"/>
            <a:ext cx="3535709" cy="33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 우선 사용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094635" y="2952535"/>
            <a:ext cx="5329674" cy="33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실좌표가 있어도 지도가 합성좌표 재계산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696129" y="2952535"/>
            <a:ext cx="6559157" cy="33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_ensure_coords()</a:t>
            </a:r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실좌표 우선, 없는 행만 보완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534" y="4165782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184" y="3665257"/>
            <a:ext cx="3535709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FastAPI/SQLite 시점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094635" y="3665257"/>
            <a:ext cx="532967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MVP에서는 보류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696129" y="3665257"/>
            <a:ext cx="6559157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필수 항목 → 이후 세션에서 추가, 로컬 폴백 유지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90534" y="4881149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184" y="4380624"/>
            <a:ext cx="3535709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클라우드 전환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094635" y="4380624"/>
            <a:ext cx="532967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팀원마다 DB가 로컬에 따로 존재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696129" y="4380624"/>
            <a:ext cx="6559157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듀얼 백엔드, 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</a:t>
            </a:r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유무로 자동 분기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90534" y="5596517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184" y="5095991"/>
            <a:ext cx="3535709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모드 구현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094635" y="5095991"/>
            <a:ext cx="532967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RFP가 명시적으로 구현제외 처리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696129" y="5095991"/>
            <a:ext cx="6559157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논의 후 "보너스 기능"으로 풀버전 구현 결정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38184" y="5811358"/>
            <a:ext cx="3535709" cy="61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신고 UX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094635" y="5811358"/>
            <a:ext cx="5329674" cy="61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본인모드↔보호자모드 메뉴 이동이 번거로움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0696129" y="5811358"/>
            <a:ext cx="6559157" cy="61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본인모드에 상태패널 임베드, "위험해요"가 보호자연결 여부 자동 판단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649321" y="9309117"/>
            <a:ext cx="72434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흐름 · 보호자 모드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529762" y="9271000"/>
            <a:ext cx="6914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182308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시퀀스 다이어그램 — 3.1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930258"/>
            <a:ext cx="18230851" cy="641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흐름 </a:t>
            </a:r>
            <a:pPr algn="l" indent="0" marL="0">
              <a:buNone/>
            </a:pPr>
            <a:r>
              <a:rPr lang="en-US" sz="2100" b="1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경유 + 로컬 폴백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1762042"/>
            <a:ext cx="16573501" cy="7528058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246" y="1952542"/>
            <a:ext cx="15831510" cy="7146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0" y="946150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784423" y="9461500"/>
            <a:ext cx="72252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182308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시퀀스 다이어그램 — 3.2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930258"/>
            <a:ext cx="18230851" cy="641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모드 시퀀스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1762042"/>
            <a:ext cx="16573501" cy="7528058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913" y="1952542"/>
            <a:ext cx="5502093" cy="7146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0" y="946150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778057" y="9461500"/>
            <a:ext cx="72889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구조화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매핑 · 처리 파이프라인 · 검색 반경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90902" y="9271000"/>
            <a:ext cx="7303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데이터 구조화 — 4.1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응답 필드 → 내부 스키마 매핑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90534" y="1842492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safetydata.go.kr </a:t>
            </a:r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highlight>
                  <a:srgbClr val="E7EE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/V2/api/DSSP-IF-10942 </a:t>
            </a:r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실응답 기준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534" y="2391751"/>
            <a:ext cx="16306933" cy="6119317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0534" y="2391751"/>
            <a:ext cx="16306933" cy="579934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7" name="Text 5"/>
          <p:cNvSpPr/>
          <p:nvPr/>
        </p:nvSpPr>
        <p:spPr>
          <a:xfrm>
            <a:off x="1238184" y="2544151"/>
            <a:ext cx="3199827" cy="31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필드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8536" y="2544151"/>
            <a:ext cx="4657826" cy="31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API 필드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7749" y="2544151"/>
            <a:ext cx="7566889" cy="31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534" y="351821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1238184" y="3095509"/>
            <a:ext cx="3199827" cy="34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shelter_id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36" y="3095509"/>
            <a:ext cx="4657826" cy="34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RSTR_FCLTY_NO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534" y="4072682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184" y="3647331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68536" y="3647331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RSTR_NM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534" y="4627149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184" y="4201798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8536" y="4201798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(자체 추출)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17749" y="4201798"/>
            <a:ext cx="7566889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주소에서 정규식 추출, 시도 정식명칭 단위 매칭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534" y="5181617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184" y="4756266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8536" y="4756266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RN_DTL_ADRES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17749" y="4756266"/>
            <a:ext cx="7566889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도로명 전체주소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0534" y="573608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184" y="5310733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open/close_time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68536" y="5310733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WKDAY_OPER_BEGIN/END_TIME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17749" y="5310733"/>
            <a:ext cx="7566889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'0900' → '09:00' 정규화, 24시(2400) 보정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0534" y="6290552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184" y="5865201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is_night_open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68536" y="5865201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CHCK_MATTER_NIGHT_OPN_AT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90534" y="6845019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2" name="Text 30"/>
          <p:cNvSpPr/>
          <p:nvPr/>
        </p:nvSpPr>
        <p:spPr>
          <a:xfrm>
            <a:off x="1238184" y="6419669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ac/fan_count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68536" y="6419669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COLR_HOLD_ARCNDTN / ELEFN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17749" y="6419669"/>
            <a:ext cx="7566889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냉방시설 수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0534" y="7399487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6" name="Text 34"/>
          <p:cNvSpPr/>
          <p:nvPr/>
        </p:nvSpPr>
        <p:spPr>
          <a:xfrm>
            <a:off x="1238184" y="6974136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68536" y="6974136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USE_PSBL_NMPR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0534" y="795395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9" name="Text 37"/>
          <p:cNvSpPr/>
          <p:nvPr/>
        </p:nvSpPr>
        <p:spPr>
          <a:xfrm>
            <a:off x="1238184" y="7528603"/>
            <a:ext cx="3199827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/ lng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68536" y="7528603"/>
            <a:ext cx="4657826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/ LO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717749" y="7528603"/>
            <a:ext cx="7566889" cy="344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 — 있으면 항상 우선 사용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38184" y="8083071"/>
            <a:ext cx="3199827" cy="34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facility_type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768536" y="8083071"/>
            <a:ext cx="4657826" cy="34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FCLTY_TY (코드)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17749" y="8083071"/>
            <a:ext cx="7566889" cy="34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명칭 매핑표 미확보로 고정값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6649072" y="9309117"/>
            <a:ext cx="72459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데이터 구조화 — 4.2 ~ 4.4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파이프라인과 검색 반경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128242"/>
            <a:ext cx="9181786" cy="2721901"/>
          </a:xfrm>
          <a:prstGeom prst="roundRect">
            <a:avLst>
              <a:gd name="adj" fmla="val 6999"/>
            </a:avLst>
          </a:prstGeom>
          <a:solidFill>
            <a:srgbClr val="0B3B6F"/>
          </a:solidFill>
          <a:ln/>
        </p:spPr>
      </p:sp>
      <p:sp>
        <p:nvSpPr>
          <p:cNvPr id="5" name="Text 3"/>
          <p:cNvSpPr/>
          <p:nvPr/>
        </p:nvSpPr>
        <p:spPr>
          <a:xfrm>
            <a:off x="1333417" y="2433009"/>
            <a:ext cx="934562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33417" y="2882801"/>
            <a:ext cx="1697137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04867" y="2978051"/>
            <a:ext cx="14304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쉼터 목록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144821" y="2882801"/>
            <a:ext cx="1225848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16271" y="2978051"/>
            <a:ext cx="9591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필터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484936" y="2882801"/>
            <a:ext cx="2536693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56386" y="2978051"/>
            <a:ext cx="22699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확보 (실좌표 우선)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135895" y="2882801"/>
            <a:ext cx="2346937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07345" y="2978051"/>
            <a:ext cx="20802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계산 Haversine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333417" y="3473318"/>
            <a:ext cx="2742241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04867" y="3568568"/>
            <a:ext cx="24816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 필터 1→2→4→전체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189925" y="3473318"/>
            <a:ext cx="1637440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61375" y="3568568"/>
            <a:ext cx="13707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 매칭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5941633" y="3473318"/>
            <a:ext cx="2646164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13083" y="3568568"/>
            <a:ext cx="2382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 (가능→거리→냉방)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333417" y="4063835"/>
            <a:ext cx="1442971" cy="481542"/>
          </a:xfrm>
          <a:prstGeom prst="roundRect">
            <a:avLst>
              <a:gd name="adj" fmla="val 1978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504867" y="4159085"/>
            <a:ext cx="1176271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Top N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90534" y="5097777"/>
            <a:ext cx="9181786" cy="25906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33417" y="5402544"/>
            <a:ext cx="934562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보호자 모드 데이터 흐름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33417" y="5849111"/>
            <a:ext cx="8750900" cy="157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본인모드 상태패널이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get_active_outing(이름)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조회해 </a:t>
            </a:r>
            <a:pPr algn="l" indent="0" marL="0">
              <a:lnSpc>
                <a:spcPct val="138462"/>
              </a:lnSpc>
              <a:buNone/>
            </a:pPr>
            <a:r>
              <a:rPr lang="en-US" sz="1875" b="1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있음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상태별 버튼(체크인 / 귀가 / 괜찮아요 / 위험해요),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send_checkin("need_help")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세션 상태 갱신 + 이벤트 기록 </a:t>
            </a:r>
            <a:pPr algn="l" indent="0" marL="0">
              <a:lnSpc>
                <a:spcPct val="138462"/>
              </a:lnSpc>
              <a:buNone/>
            </a:pPr>
            <a:r>
              <a:rPr lang="en-US" sz="1875" b="1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없음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"위험해요" 클릭 시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create_emergency_report() </a:t>
            </a:r>
            <a:pPr algn="l" indent="0" marL="0">
              <a:lnSpc>
                <a:spcPct val="138462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기록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96104" y="2128242"/>
            <a:ext cx="6801363" cy="5560219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38987" y="2433009"/>
            <a:ext cx="67271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활동유형별 검색 반경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838987" y="2936710"/>
            <a:ext cx="6115596" cy="632850"/>
          </a:xfrm>
          <a:prstGeom prst="roundRect">
            <a:avLst>
              <a:gd name="adj" fmla="val 18061"/>
            </a:avLst>
          </a:prstGeom>
          <a:solidFill>
            <a:srgbClr val="F5F8FD"/>
          </a:solidFill>
          <a:ln/>
        </p:spPr>
      </p:sp>
      <p:sp>
        <p:nvSpPr>
          <p:cNvPr id="28" name="Text 26"/>
          <p:cNvSpPr/>
          <p:nvPr/>
        </p:nvSpPr>
        <p:spPr>
          <a:xfrm>
            <a:off x="11029487" y="3089093"/>
            <a:ext cx="537650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산책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906502" y="3089093"/>
            <a:ext cx="93378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km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838987" y="3702844"/>
            <a:ext cx="6115596" cy="632850"/>
          </a:xfrm>
          <a:prstGeom prst="roundRect">
            <a:avLst>
              <a:gd name="adj" fmla="val 18061"/>
            </a:avLst>
          </a:prstGeom>
          <a:solidFill>
            <a:srgbClr val="F5F8FD"/>
          </a:solidFill>
          <a:ln/>
        </p:spPr>
      </p:sp>
      <p:sp>
        <p:nvSpPr>
          <p:cNvPr id="31" name="Text 29"/>
          <p:cNvSpPr/>
          <p:nvPr/>
        </p:nvSpPr>
        <p:spPr>
          <a:xfrm>
            <a:off x="11029487" y="3855227"/>
            <a:ext cx="152960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장보기 · 용무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5906502" y="3855227"/>
            <a:ext cx="93378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km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0838987" y="4468978"/>
            <a:ext cx="6115596" cy="632850"/>
          </a:xfrm>
          <a:prstGeom prst="roundRect">
            <a:avLst>
              <a:gd name="adj" fmla="val 18061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11029487" y="4621362"/>
            <a:ext cx="1799547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(야외근로)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5906502" y="4621362"/>
            <a:ext cx="93378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km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0838987" y="5235112"/>
            <a:ext cx="6115596" cy="632850"/>
          </a:xfrm>
          <a:prstGeom prst="roundRect">
            <a:avLst>
              <a:gd name="adj" fmla="val 18061"/>
            </a:avLst>
          </a:prstGeom>
          <a:solidFill>
            <a:srgbClr val="F5F8FD"/>
          </a:solidFill>
          <a:ln/>
        </p:spPr>
      </p:sp>
      <p:sp>
        <p:nvSpPr>
          <p:cNvPr id="37" name="Text 35"/>
          <p:cNvSpPr/>
          <p:nvPr/>
        </p:nvSpPr>
        <p:spPr>
          <a:xfrm>
            <a:off x="11029487" y="5387496"/>
            <a:ext cx="76833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등하교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5906502" y="5387496"/>
            <a:ext cx="93378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km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838987" y="6001246"/>
            <a:ext cx="6115596" cy="632850"/>
          </a:xfrm>
          <a:prstGeom prst="roundRect">
            <a:avLst>
              <a:gd name="adj" fmla="val 18061"/>
            </a:avLst>
          </a:prstGeom>
          <a:solidFill>
            <a:srgbClr val="F5F8FD"/>
          </a:solidFill>
          <a:ln/>
        </p:spPr>
      </p:sp>
      <p:sp>
        <p:nvSpPr>
          <p:cNvPr id="40" name="Text 38"/>
          <p:cNvSpPr/>
          <p:nvPr/>
        </p:nvSpPr>
        <p:spPr>
          <a:xfrm>
            <a:off x="11029487" y="6153630"/>
            <a:ext cx="537650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5906502" y="6153630"/>
            <a:ext cx="93378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km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0838987" y="6843614"/>
            <a:ext cx="6727155" cy="35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93A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수치는 팀 논의로 정한 초기값 — 통계적 근거 보강은 개선 과제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6645600" y="9309117"/>
            <a:ext cx="7280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92492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45108"/>
            <a:ext cx="17602201" cy="100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31976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55759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테이블 · 듀얼 백엔드 설계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506032" y="9271000"/>
            <a:ext cx="71516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84"/>
            <a:ext cx="18440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ERD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876267"/>
            <a:ext cx="18440401" cy="614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762000" y="1643559"/>
            <a:ext cx="12687350" cy="7722775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00" y="2552899"/>
            <a:ext cx="12344550" cy="59040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1" y="1643559"/>
            <a:ext cx="419100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특징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3716001" y="2097567"/>
            <a:ext cx="3810000" cy="1405020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944601" y="2307117"/>
            <a:ext cx="3467100" cy="102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28"/>
              </a:lnSpc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SHELTERS 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는 행안부 API 응답 캐시 — </a:t>
            </a:r>
            <a:pPr algn="l" indent="0" marL="0">
              <a:lnSpc>
                <a:spcPct val="132128"/>
              </a:lnSpc>
              <a:buNone/>
            </a:pPr>
            <a:r>
              <a:rPr lang="en-US" sz="157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last_synced_at 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으로 갱신시점 추적(NFR-003)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3716001" y="3654971"/>
            <a:ext cx="3810000" cy="1405020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3944601" y="3864521"/>
            <a:ext cx="3467100" cy="102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28"/>
              </a:lnSpc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OUTING_SESSIONS ↔ OUTING_EVENTS 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는 1:N — 외출 하나에 타임라인 이벤트가 순서대로 쌓임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3716001" y="5212375"/>
            <a:ext cx="3810000" cy="1405020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944601" y="5421925"/>
            <a:ext cx="3467100" cy="102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28"/>
              </a:lnSpc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EMERGENCY_REPORTS 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는 의도적으로 무관계 — 보호자 연결이 없는 독립 신고용 별도 테이블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3716001" y="6769778"/>
            <a:ext cx="3810000" cy="1405020"/>
          </a:xfrm>
          <a:prstGeom prst="roundRect">
            <a:avLst>
              <a:gd name="adj" fmla="val 9491"/>
            </a:avLst>
          </a:prstGeom>
          <a:solidFill>
            <a:srgbClr val="0B3B6F"/>
          </a:solidFill>
          <a:ln/>
        </p:spPr>
      </p:sp>
      <p:sp>
        <p:nvSpPr>
          <p:cNvPr id="14" name="Text 11"/>
          <p:cNvSpPr/>
          <p:nvPr/>
        </p:nvSpPr>
        <p:spPr>
          <a:xfrm>
            <a:off x="13944601" y="6979328"/>
            <a:ext cx="3467100" cy="102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PostgreSQL 듀얼 백엔드 — </a:t>
            </a:r>
            <a:pPr algn="l" indent="0" marL="0">
              <a:lnSpc>
                <a:spcPct val="132128"/>
              </a:lnSpc>
              <a:buNone/>
            </a:pPr>
            <a:r>
              <a:rPr lang="en-US" sz="1575" dirty="0">
                <a:solidFill>
                  <a:srgbClr val="9EC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가 </a:t>
            </a:r>
            <a:pPr algn="l" indent="0" marL="0">
              <a:lnSpc>
                <a:spcPct val="132128"/>
              </a:lnSpc>
              <a:buNone/>
            </a:pPr>
            <a:r>
              <a:rPr lang="en-US" sz="1575" dirty="0">
                <a:solidFill>
                  <a:srgbClr val="9EC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</a:t>
            </a:r>
            <a:pPr algn="l" indent="0" marL="0">
              <a:lnSpc>
                <a:spcPct val="132128"/>
              </a:lnSpc>
              <a:buNone/>
            </a:pPr>
            <a:r>
              <a:rPr lang="en-US" sz="172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유무로 자동 분기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4996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875540" y="9499617"/>
            <a:ext cx="72666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적정기술 선택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논리적 전개과정 · MVP 시퀀스 선정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93134" y="9271000"/>
            <a:ext cx="7280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66750"/>
            <a:ext cx="182308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적정기술 선택 — 6.1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1044525"/>
            <a:ext cx="1823085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논리적 전개과정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57250" y="1975859"/>
            <a:ext cx="16573501" cy="5035517"/>
          </a:xfrm>
          <a:prstGeom prst="roundRect">
            <a:avLst>
              <a:gd name="adj" fmla="val 3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7250" y="1975859"/>
            <a:ext cx="16573501" cy="564059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085850" y="2128259"/>
            <a:ext cx="2956890" cy="297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4324301" y="2128259"/>
            <a:ext cx="3450708" cy="297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970425" y="2128259"/>
            <a:ext cx="4133543" cy="297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기준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355695" y="2128259"/>
            <a:ext cx="5005566" cy="297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857250" y="3082313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1085850" y="2682792"/>
            <a:ext cx="29568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개발 속도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4324301" y="2682792"/>
            <a:ext cx="34507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React+백엔드 / Streamlit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970425" y="2682792"/>
            <a:ext cx="41335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제약 하 완성 가능성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2355695" y="2682792"/>
            <a:ext cx="50055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이후 백엔드만 얹어 확장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857250" y="3643230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3230480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거리계산 좌표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4324301" y="3230480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/ 지역선택 프록시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970425" y="3230480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권한 의존 = 데모 리스크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2355695" y="3230480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지역선택 프록시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실좌표 확보 시 우선 사용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857250" y="4204147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1085850" y="3791397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 순서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4324301" y="3791397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대기 / 샘플 먼저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7970425" y="3791397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승인 대기가 병목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355695" y="3791397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CSV로 로직 완성 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무중단 교체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857250" y="4765063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1085850" y="4352313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분리 시점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4324301" y="4352313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처음부터 / 나중에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7970425" y="4352313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필수지만 로직 완성이 급함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2355695" y="4352313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나중에 추가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로직 재사용 + 로컬 폴백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857250" y="5325980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850" y="4913230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일부만 있을 때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4324301" y="4913230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재계산 / 있는 것만 보완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7970425" y="4913230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 무시하면 DAR-003 위반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2355695" y="4913230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실좌표 우선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부족분만 합성 보완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857250" y="5886897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6" name="Text 34"/>
          <p:cNvSpPr/>
          <p:nvPr/>
        </p:nvSpPr>
        <p:spPr>
          <a:xfrm>
            <a:off x="1085850" y="5474147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데이터 방어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4324301" y="5474147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곳 / 여러 층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7970425" y="5474147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데이터에서 실제 크래시 경험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12355695" y="5474147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방어 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정규화 + 사용시점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857250" y="6447814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1" name="Text 39"/>
          <p:cNvSpPr/>
          <p:nvPr/>
        </p:nvSpPr>
        <p:spPr>
          <a:xfrm>
            <a:off x="1085850" y="6035064"/>
            <a:ext cx="2956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위치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4324301" y="6035064"/>
            <a:ext cx="345070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SQLite / 클라우드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7970425" y="6035064"/>
            <a:ext cx="41335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"팀원끼리 같은 DB를 보고싶다"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2355695" y="6035064"/>
            <a:ext cx="500556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듀얼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.env 유무로 자동 폴백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085850" y="6595980"/>
            <a:ext cx="2956890" cy="310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기능 여부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4324301" y="6595980"/>
            <a:ext cx="3450708" cy="310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준수(제외) / 보너스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7970425" y="6595980"/>
            <a:ext cx="4133543" cy="310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필요성 재검토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2355695" y="6595980"/>
            <a:ext cx="5005566" cy="310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풀버전 구현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발표에서 보너스임을 명시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857250" y="93662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6751516" y="9366250"/>
            <a:ext cx="7554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66750"/>
            <a:ext cx="182308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적정기술 선택 — 6.2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1044525"/>
            <a:ext cx="1823085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시퀀스 선정 및 구현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57250" y="2013893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67" y="2166276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61951" y="2166276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확정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14602" y="2192734"/>
            <a:ext cx="256598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내 완결된 결과물 필요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334501" y="2013893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44017" y="2166276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039201" y="2166276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데이터 확보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591852" y="2192734"/>
            <a:ext cx="307758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없이는 이후 단계 모두 막힘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57250" y="2772668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6767" y="2925052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1951" y="2925052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로직 구현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114602" y="2951510"/>
            <a:ext cx="216516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테스트로 먼저 검증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334501" y="2772668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44017" y="2925052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039201" y="2925052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화면 구현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591852" y="2951510"/>
            <a:ext cx="32766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 범위를 좁히기 위해 로직 이후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57250" y="3531443"/>
            <a:ext cx="16573501" cy="606392"/>
          </a:xfrm>
          <a:prstGeom prst="roundRect">
            <a:avLst>
              <a:gd name="adj" fmla="val 18849"/>
            </a:avLst>
          </a:prstGeom>
          <a:solidFill>
            <a:srgbClr val="0B3B6F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767" y="3710285"/>
            <a:ext cx="1772717" cy="286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2849728" y="3683827"/>
            <a:ext cx="327649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"입력 → 결과 출력이 되는가?"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423430" y="3707639"/>
            <a:ext cx="307758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완성선 통과 후에만 다음 단계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57250" y="4290219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6767" y="4442602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561951" y="4442602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추가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114602" y="4469061"/>
            <a:ext cx="15098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시각적 임팩트 큼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334501" y="4290219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44017" y="4442602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039201" y="4442602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안내문구 연동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591852" y="4469061"/>
            <a:ext cx="170905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폴백 안전장치 동반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57250" y="5048994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66767" y="5201378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561951" y="5201378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폴리싱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114602" y="5227836"/>
            <a:ext cx="176689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완성 후 마지막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1" y="5048994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544017" y="5201378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039201" y="5201378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엣지케이스 처리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591852" y="5227836"/>
            <a:ext cx="28784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케이스 안정화 후 예외 보강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857250" y="5807770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66767" y="5960153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561951" y="5960153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재정렬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4114602" y="5986611"/>
            <a:ext cx="216516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요구사항 확정 이후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334501" y="5807770"/>
            <a:ext cx="8096251" cy="606392"/>
          </a:xfrm>
          <a:prstGeom prst="roundRect">
            <a:avLst>
              <a:gd name="adj" fmla="val 1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544017" y="5960153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0039201" y="5960153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실API·백엔드·DB 확장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2591852" y="5986611"/>
            <a:ext cx="222301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로직 안정 후 인프라 확장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57250" y="6566545"/>
            <a:ext cx="16573501" cy="606392"/>
          </a:xfrm>
          <a:prstGeom prst="roundRect">
            <a:avLst>
              <a:gd name="adj" fmla="val 18849"/>
            </a:avLst>
          </a:prstGeom>
          <a:solidFill>
            <a:srgbClr val="E7EEFA"/>
          </a:solidFill>
          <a:ln/>
        </p:spPr>
      </p:sp>
      <p:sp>
        <p:nvSpPr>
          <p:cNvPr id="49" name="Text 47"/>
          <p:cNvSpPr/>
          <p:nvPr/>
        </p:nvSpPr>
        <p:spPr>
          <a:xfrm>
            <a:off x="1066767" y="6718929"/>
            <a:ext cx="3999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561951" y="6718929"/>
            <a:ext cx="26193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보호자모드 풀구현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4114602" y="6745387"/>
            <a:ext cx="333451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안정화 후 보너스 기능 착수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857250" y="93662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6784423" y="9366250"/>
            <a:ext cx="72252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정의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분리 · 다중 폴백 · 단일 진실 공급원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67584" y="9271000"/>
            <a:ext cx="75361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84"/>
            <a:ext cx="1844040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아키텍처 정의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892142"/>
            <a:ext cx="18440401" cy="614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구성도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762000" y="1659434"/>
            <a:ext cx="12496850" cy="7706899"/>
          </a:xfrm>
          <a:prstGeom prst="roundRect">
            <a:avLst>
              <a:gd name="adj" fmla="val 2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00" y="4038534"/>
            <a:ext cx="12154049" cy="29486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25501" y="1659434"/>
            <a:ext cx="44005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원칙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3525501" y="2113442"/>
            <a:ext cx="4000500" cy="1815372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54101" y="2342042"/>
            <a:ext cx="3663315" cy="139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2"/>
              </a:lnSpc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계층 분리 </a:t>
            </a:r>
            <a:pPr algn="l" indent="0" marL="0">
              <a:lnSpc>
                <a:spcPct val="136532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화면 / API / 로직 / 데이터를 독립 모듈로 분리해, 백엔드 유무와 무관하게 로직 모듈을 그대로 재사용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3525501" y="4081198"/>
            <a:ext cx="4000500" cy="2154949"/>
          </a:xfrm>
          <a:prstGeom prst="roundRect">
            <a:avLst>
              <a:gd name="adj" fmla="val 6188"/>
            </a:avLst>
          </a:prstGeom>
          <a:solidFill>
            <a:srgbClr val="0B3B6F"/>
          </a:solidFill>
          <a:ln/>
        </p:spPr>
      </p:sp>
      <p:sp>
        <p:nvSpPr>
          <p:cNvPr id="10" name="Text 7"/>
          <p:cNvSpPr/>
          <p:nvPr/>
        </p:nvSpPr>
        <p:spPr>
          <a:xfrm>
            <a:off x="13754101" y="4309798"/>
            <a:ext cx="3663315" cy="173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2"/>
              </a:lnSpc>
              <a:buNone/>
            </a:pPr>
            <a:r>
              <a:rPr lang="en-US" sz="1725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다중 폴백 </a:t>
            </a:r>
            <a:pPr algn="l" indent="0" marL="0">
              <a:lnSpc>
                <a:spcPct val="136532"/>
              </a:lnSpc>
              <a:buNone/>
            </a:pPr>
            <a:r>
              <a:rPr lang="en-US" sz="172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백엔드→로컬직접호출, 실API→CSV, Claude→템플릿, Supabase→SQLite — 4곳 모두 상위 실패 시 하위로 자동 전환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3525501" y="6388530"/>
            <a:ext cx="4000500" cy="1815372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B3B6F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754101" y="6617130"/>
            <a:ext cx="3663315" cy="139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2"/>
              </a:lnSpc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단일 진실 공급원(SSOT) </a:t>
            </a:r>
            <a:pPr algn="l" indent="0" marL="0">
              <a:lnSpc>
                <a:spcPct val="136532"/>
              </a:lnSpc>
              <a:buNone/>
            </a:pPr>
            <a:r>
              <a:rPr lang="en-US" sz="157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 </a:t>
            </a:r>
            <a:pPr algn="l" indent="0" marL="0">
              <a:lnSpc>
                <a:spcPct val="136532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public 함수 시그니처가 고정 — 백엔드가 바뀌어도 </a:t>
            </a:r>
            <a:pPr algn="l" indent="0" marL="0">
              <a:lnSpc>
                <a:spcPct val="136532"/>
              </a:lnSpc>
              <a:buNone/>
            </a:pPr>
            <a:r>
              <a:rPr lang="en-US" sz="157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</a:t>
            </a:r>
            <a:pPr algn="l" indent="0" marL="0">
              <a:lnSpc>
                <a:spcPct val="136532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pPr algn="l" indent="0" marL="0">
              <a:lnSpc>
                <a:spcPct val="136532"/>
              </a:lnSpc>
              <a:buNone/>
            </a:pPr>
            <a:r>
              <a:rPr lang="en-US" sz="157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api_server.py</a:t>
            </a:r>
            <a:pPr algn="l" indent="0" marL="0">
              <a:lnSpc>
                <a:spcPct val="136532"/>
              </a:lnSpc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는 수정 불필요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94996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842218" y="9499617"/>
            <a:ext cx="7599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개발시퀀스 정의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~ Phase 11 · 커밋 단위 재구성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62954" y="9271000"/>
            <a:ext cx="75824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66750"/>
            <a:ext cx="182308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개발시퀀스 정의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1044525"/>
            <a:ext cx="18230851" cy="646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→ Phase 11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57250" y="1919718"/>
            <a:ext cx="16573501" cy="6870568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7250" y="1919718"/>
            <a:ext cx="16573501" cy="545042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2062593"/>
            <a:ext cx="190113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367981" y="2062593"/>
            <a:ext cx="7642184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내용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1214629" y="2062593"/>
            <a:ext cx="6162384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57250" y="2968956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2588584"/>
            <a:ext cx="1901131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3367981" y="2588584"/>
            <a:ext cx="7642184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PRD/RFP 기반 요구사항 정의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1214629" y="2588584"/>
            <a:ext cx="6162384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문서, 데이터 모델 초안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57250" y="3507548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3098073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3367981" y="3098073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로직 스켈레톤 (지역필터+시간매칭)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214629" y="3098073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matching.py v1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857250" y="4046141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3636665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3367981" y="3636665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화면 골격 (입력→결과)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1214629" y="3636665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v1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857250" y="4584733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4175257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3367981" y="4175257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데이터 생성 (대구 107건 CSV)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1214629" y="4175257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shelters.csv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857250" y="5096868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" y="4713850"/>
            <a:ext cx="1901131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3367981" y="4713850"/>
            <a:ext cx="76421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고도화 (지도·브랜드·메뉴)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1214629" y="4713850"/>
            <a:ext cx="61623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연동, 로고, CSS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857250" y="5635460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5225984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3367981" y="5225984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재정렬 (활동유형·Haversine·반경확장)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11214629" y="5225984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matching.py v2, geo.py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857250" y="6174052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4" name="Text 32"/>
          <p:cNvSpPr/>
          <p:nvPr/>
        </p:nvSpPr>
        <p:spPr>
          <a:xfrm>
            <a:off x="1104900" y="5764577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3367981" y="5764577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백엔드·DB 계층 추가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1214629" y="5764577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api_server.py, db.py v1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857250" y="6712645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38" name="Text 36"/>
          <p:cNvSpPr/>
          <p:nvPr/>
        </p:nvSpPr>
        <p:spPr>
          <a:xfrm>
            <a:off x="1104900" y="6303169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3367981" y="6303169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실API 연동 (엔드포인트 재확인 포함)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1214629" y="6303169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shelter_api.py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857250" y="7224779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2" name="Text 40"/>
          <p:cNvSpPr/>
          <p:nvPr/>
        </p:nvSpPr>
        <p:spPr>
          <a:xfrm>
            <a:off x="1104900" y="6841761"/>
            <a:ext cx="1901131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3367981" y="6841761"/>
            <a:ext cx="76421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정합성 버그 수정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1214629" y="6841761"/>
            <a:ext cx="61623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지역매칭·시간파싱 방어코드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857250" y="7763372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46" name="Text 44"/>
          <p:cNvSpPr/>
          <p:nvPr/>
        </p:nvSpPr>
        <p:spPr>
          <a:xfrm>
            <a:off x="1104900" y="7353896"/>
            <a:ext cx="1901131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3367981" y="7353896"/>
            <a:ext cx="76421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클라우드 전환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1214629" y="7353896"/>
            <a:ext cx="6162384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 v2 (듀얼)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857250" y="8275505"/>
            <a:ext cx="16573501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50" name="Text 48"/>
          <p:cNvSpPr/>
          <p:nvPr/>
        </p:nvSpPr>
        <p:spPr>
          <a:xfrm>
            <a:off x="1104900" y="7892488"/>
            <a:ext cx="1901131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10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3367981" y="7892488"/>
            <a:ext cx="76421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보호자모드 구현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11214629" y="7892488"/>
            <a:ext cx="6162384" cy="30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외출세션·이벤트·신고 스키마, 보호자 UI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1104900" y="8404622"/>
            <a:ext cx="1901131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11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3367981" y="8404622"/>
            <a:ext cx="7642184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마무리 및 버그 수정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11214629" y="8404622"/>
            <a:ext cx="6162384" cy="299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모드선택 화면, 로고 이슈, 회귀테스트</a:t>
            </a:r>
            <a:endParaRPr lang="en-US" sz="1725" dirty="0"/>
          </a:p>
        </p:txBody>
      </p:sp>
      <p:sp>
        <p:nvSpPr>
          <p:cNvPr id="56" name="Shape 54"/>
          <p:cNvSpPr/>
          <p:nvPr/>
        </p:nvSpPr>
        <p:spPr>
          <a:xfrm>
            <a:off x="857250" y="8999802"/>
            <a:ext cx="16573501" cy="720659"/>
          </a:xfrm>
          <a:prstGeom prst="roundRect">
            <a:avLst>
              <a:gd name="adj" fmla="val 18504"/>
            </a:avLst>
          </a:prstGeom>
          <a:solidFill>
            <a:srgbClr val="0B3B6F"/>
          </a:solidFill>
          <a:ln/>
        </p:spPr>
      </p:sp>
      <p:sp>
        <p:nvSpPr>
          <p:cNvPr id="57" name="Text 55"/>
          <p:cNvSpPr/>
          <p:nvPr/>
        </p:nvSpPr>
        <p:spPr>
          <a:xfrm>
            <a:off x="1123950" y="9209352"/>
            <a:ext cx="16537306" cy="339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Phase 전환 시점마다 </a:t>
            </a:r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데모 가능한가?"</a:t>
            </a:r>
            <a:pPr algn="l" indent="0" marL="0">
              <a:buNone/>
            </a:pPr>
            <a:r>
              <a:rPr lang="en-US" sz="1875" dirty="0">
                <a:solidFill>
                  <a:srgbClr val="DCE8F8"/>
                </a:solidFill>
                <a:highlight>
                  <a:srgbClr val="0B3B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를 체크포인트로 삼아, 한 Phase가 실패해도 이전 Phase 상태로 시연 가능한 상태를 유지했다.</a:t>
            </a:r>
            <a:endParaRPr lang="en-US" sz="1875" dirty="0"/>
          </a:p>
        </p:txBody>
      </p:sp>
      <p:sp>
        <p:nvSpPr>
          <p:cNvPr id="58" name="Text 56"/>
          <p:cNvSpPr/>
          <p:nvPr/>
        </p:nvSpPr>
        <p:spPr>
          <a:xfrm>
            <a:off x="857250" y="9720461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6751268" y="9720461"/>
            <a:ext cx="755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 문서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무더위쉼터 · Claude · Supabase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62045" y="9271000"/>
            <a:ext cx="75915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API 연동 문서 — 9.1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재난안전데이터공유플랫폼 (무더위쉼터)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071026"/>
            <a:ext cx="16306933" cy="4521564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534" y="2728681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6" name="Shape 4"/>
          <p:cNvSpPr/>
          <p:nvPr/>
        </p:nvSpPr>
        <p:spPr>
          <a:xfrm>
            <a:off x="990534" y="2071026"/>
            <a:ext cx="3913601" cy="662947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7" name="Text 5"/>
          <p:cNvSpPr/>
          <p:nvPr/>
        </p:nvSpPr>
        <p:spPr>
          <a:xfrm>
            <a:off x="1276284" y="2242476"/>
            <a:ext cx="3459509" cy="35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기본주소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189885" y="2242476"/>
            <a:ext cx="12193632" cy="35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https://www.safetydata.go.kr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534" y="3394273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0" name="Shape 8"/>
          <p:cNvSpPr/>
          <p:nvPr/>
        </p:nvSpPr>
        <p:spPr>
          <a:xfrm>
            <a:off x="990534" y="2733973"/>
            <a:ext cx="3913601" cy="665593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284" y="2905423"/>
            <a:ext cx="3459509" cy="360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데이터ID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189885" y="2905423"/>
            <a:ext cx="12193632" cy="360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/V2/api/DSSP-IF-10942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534" y="4033408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534" y="3399565"/>
            <a:ext cx="3913601" cy="639134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284" y="3571015"/>
            <a:ext cx="3459509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파라미터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189885" y="3571015"/>
            <a:ext cx="12193632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serviceKey, sc-camel-return-type=json, pageNo, numOfRows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990534" y="4672542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534" y="4038699"/>
            <a:ext cx="3913601" cy="639134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284" y="4210149"/>
            <a:ext cx="3459509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구조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189885" y="4210149"/>
            <a:ext cx="12193632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header: ..., body: [ ... ] } — body가 바로 리스트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90534" y="5311676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90534" y="4677834"/>
            <a:ext cx="3913601" cy="639134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284" y="4849284"/>
            <a:ext cx="3459509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5189885" y="4849284"/>
            <a:ext cx="12193632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서비스키 발급 · IP 화이트리스트 전체허용 설정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90534" y="5950810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90534" y="5316968"/>
            <a:ext cx="3913601" cy="639134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27" name="Text 25"/>
          <p:cNvSpPr/>
          <p:nvPr/>
        </p:nvSpPr>
        <p:spPr>
          <a:xfrm>
            <a:off x="1276284" y="5488418"/>
            <a:ext cx="3459509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페이지네이션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5189885" y="5488418"/>
            <a:ext cx="12193632" cy="334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15페이지(페이지당 1,000건) 순회 → "대구광역시" 포함 건만 필터링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90534" y="5956102"/>
            <a:ext cx="3913601" cy="636488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0" name="Text 28"/>
          <p:cNvSpPr/>
          <p:nvPr/>
        </p:nvSpPr>
        <p:spPr>
          <a:xfrm>
            <a:off x="1276284" y="6127552"/>
            <a:ext cx="3459509" cy="33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대응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5189885" y="6127552"/>
            <a:ext cx="12193632" cy="33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 실패·응답없음 시 </a:t>
            </a:r>
            <a:pPr algn="l" indent="0" marL="0">
              <a:buNone/>
            </a:pPr>
            <a:r>
              <a:rPr lang="en-US" sz="1725" dirty="0">
                <a:solidFill>
                  <a:srgbClr val="0F2C4D"/>
                </a:solidFill>
                <a:highlight>
                  <a:srgbClr val="EEF3F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shelters.csv </a:t>
            </a:r>
            <a:pPr algn="l" indent="0" marL="0">
              <a:buNone/>
            </a:pPr>
            <a:r>
              <a:rPr lang="en-US" sz="1875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데이터로 자동 폴백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90534" y="6878340"/>
            <a:ext cx="16306933" cy="1799167"/>
          </a:xfrm>
          <a:prstGeom prst="roundRect">
            <a:avLst>
              <a:gd name="adj" fmla="val 9529"/>
            </a:avLst>
          </a:prstGeom>
          <a:solidFill>
            <a:srgbClr val="0B3B6F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417" y="7183107"/>
            <a:ext cx="1718328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33417" y="7575683"/>
            <a:ext cx="16089801" cy="835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18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추정한 엔드포인트(data.go.kr의 </a:t>
            </a:r>
            <a:pPr algn="l" indent="0" marL="0">
              <a:lnSpc>
                <a:spcPct val="134518"/>
              </a:lnSpc>
              <a:buNone/>
            </a:pPr>
            <a:r>
              <a:rPr lang="en-US" sz="1800" dirty="0">
                <a:solidFill>
                  <a:srgbClr val="9EC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HeatWaveShelter3</a:t>
            </a:r>
            <a:pPr algn="l" indent="0" marL="0">
              <a:lnSpc>
                <a:spcPct val="134518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)는 </a:t>
            </a:r>
            <a:pPr algn="l" indent="0" marL="0">
              <a:lnSpc>
                <a:spcPct val="134518"/>
              </a:lnSpc>
              <a:buNone/>
            </a:pPr>
            <a:r>
              <a:rPr lang="en-US" sz="1800" dirty="0">
                <a:solidFill>
                  <a:srgbClr val="FFB4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NO_OPENAPI_SERVICE_ERROR </a:t>
            </a:r>
            <a:pPr algn="l" indent="0" marL="0">
              <a:lnSpc>
                <a:spcPct val="134518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반환 → 실제로는 완전히 다른 플랫폼(safetydata.go.kr)의 API였음을 확인 후 전면 재작성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6627410" y="9309117"/>
            <a:ext cx="74625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API 연동 문서 — 9.2 ~ 9.3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46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· Supabase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110218"/>
            <a:ext cx="7991574" cy="5234947"/>
          </a:xfrm>
          <a:prstGeom prst="roundRect">
            <a:avLst>
              <a:gd name="adj" fmla="val 3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2434" y="2453101"/>
            <a:ext cx="7994551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— AI 방문 안내문구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52434" y="3073218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· 인증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434" y="3386419"/>
            <a:ext cx="79945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</a:t>
            </a:r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(Python) · </a:t>
            </a:r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</a:t>
            </a:r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2434" y="3840427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제약 (AIR-002)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434" y="4153628"/>
            <a:ext cx="799455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쉼터명·거리·운영시간·상태 등 시스템 계산값만 프롬프트로 전달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2434" y="4575886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제약 (AIR-003)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52434" y="4889087"/>
            <a:ext cx="799455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고유명사는 AI가 생성하지 않고 시스템이 문자열로 삽입 — 할루시네이션 방지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2434" y="5311346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대응 (AIR-005)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52434" y="5624546"/>
            <a:ext cx="799455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없음·호출 실패 시 f-string 템플릿 문구로 자동 대체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05892" y="2110218"/>
            <a:ext cx="7991574" cy="5234947"/>
          </a:xfrm>
          <a:prstGeom prst="roundRect">
            <a:avLst>
              <a:gd name="adj" fmla="val 3639"/>
            </a:avLst>
          </a:prstGeom>
          <a:solidFill>
            <a:srgbClr val="0B3B6F"/>
          </a:solidFill>
          <a:ln/>
        </p:spPr>
      </p:sp>
      <p:sp>
        <p:nvSpPr>
          <p:cNvPr id="15" name="Text 13"/>
          <p:cNvSpPr/>
          <p:nvPr/>
        </p:nvSpPr>
        <p:spPr>
          <a:xfrm>
            <a:off x="9667793" y="2453101"/>
            <a:ext cx="799455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667793" y="3052051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방식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67793" y="3365252"/>
            <a:ext cx="79945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</a:t>
            </a:r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 (Session pooler URI)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7793" y="3819260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드라이버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67793" y="4132461"/>
            <a:ext cx="79945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psycopg2-binary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67793" y="4586470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형태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67793" y="4899670"/>
            <a:ext cx="7485807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B9C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postgresql://postgres.[프로젝트ID]:[비밀번호]@aws-리전.pooler.supabase.com:5432/postgres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9667793" y="5651996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67793" y="5965197"/>
            <a:ext cx="799455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 없으면 로컬 SQLite 자동 사용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67793" y="6387455"/>
            <a:ext cx="7994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동기화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67793" y="6700656"/>
            <a:ext cx="79945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init_db()</a:t>
            </a:r>
            <a:pPr algn="l" indent="0" marL="0">
              <a:buNone/>
            </a:pPr>
            <a:r>
              <a:rPr lang="en-US" sz="1800" dirty="0">
                <a:solidFill>
                  <a:srgbClr val="B9C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신규 컬럼을 기존 테이블에 자동 추가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6615917" y="9309117"/>
            <a:ext cx="7577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진행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스켈레톤 코드 · 에러처리 · 테스트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62045" y="9271000"/>
            <a:ext cx="75915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개발 진행 — 10.1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스켈레톤 코드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90534" y="2109143"/>
            <a:ext cx="977909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매칭 로직 — 활동유형·거리계산 추가 전 최소형태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34" y="2563151"/>
            <a:ext cx="8890083" cy="4373067"/>
          </a:xfrm>
          <a:prstGeom prst="roundRect">
            <a:avLst>
              <a:gd name="adj" fmla="val 3485"/>
            </a:avLst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276284" y="2829851"/>
            <a:ext cx="8585285" cy="3877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recommend_shelters(df, region, input_time_str, top_n=10):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input_time = _parse_time(input_time_str)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df[df["region"] == region].copy()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result["availability"] = result.apply(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 row: _get_availability(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input_time,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_parse_time(row["open_time"]),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_parse_time(row["close_time"]),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 axis=1,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result.sort_values(by=["availability"])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result.head(top_n)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0185384" y="2109143"/>
            <a:ext cx="782329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최소 골격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185384" y="2563151"/>
            <a:ext cx="7112083" cy="4053086"/>
          </a:xfrm>
          <a:prstGeom prst="roundRect">
            <a:avLst>
              <a:gd name="adj" fmla="val 3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71134" y="2829851"/>
            <a:ext cx="6753945" cy="35577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st.selectbox("지역", regions)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time_input = st.time_input("방문 예정 시간")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st.button("쉼터 찾기"):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recommend_shelters(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df, region,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time_input.strftime("%H:%M"),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_, row in results.iterrows():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st.write(row["name"],</a:t>
            </a:r>
            <a:endParaRPr lang="en-US" sz="1575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575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row["availability"])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185384" y="6825754"/>
            <a:ext cx="7112083" cy="1104801"/>
          </a:xfrm>
          <a:prstGeom prst="roundRect">
            <a:avLst>
              <a:gd name="adj" fmla="val 12070"/>
            </a:avLst>
          </a:prstGeom>
          <a:solidFill>
            <a:srgbClr val="E7EEFA"/>
          </a:solidFill>
          <a:ln/>
        </p:spPr>
      </p:sp>
      <p:sp>
        <p:nvSpPr>
          <p:cNvPr id="11" name="Text 9"/>
          <p:cNvSpPr/>
          <p:nvPr/>
        </p:nvSpPr>
        <p:spPr>
          <a:xfrm>
            <a:off x="10433034" y="7035304"/>
            <a:ext cx="6830145" cy="723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출발해 활동유형 · Haversine 거리 · 반경확장 · AI 안내문구 · 보호자 세션이 순차적으로 얹혔다.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611865" y="9309117"/>
            <a:ext cx="7618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개발 진행 — 10.2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071026"/>
            <a:ext cx="16306933" cy="5521358"/>
          </a:xfrm>
          <a:prstGeom prst="roundRect">
            <a:avLst>
              <a:gd name="adj" fmla="val 27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534" y="2071026"/>
            <a:ext cx="16306933" cy="633842"/>
          </a:xfrm>
          <a:prstGeom prst="rect">
            <a:avLst/>
          </a:prstGeom>
          <a:solidFill>
            <a:srgbClr val="0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276284" y="2242476"/>
            <a:ext cx="6818755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451288" y="2242476"/>
            <a:ext cx="8834387" cy="329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방식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534" y="3355082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9" name="Text 7"/>
          <p:cNvSpPr/>
          <p:nvPr/>
        </p:nvSpPr>
        <p:spPr>
          <a:xfrm>
            <a:off x="1276284" y="2885844"/>
            <a:ext cx="6818755" cy="331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백엔드(FastAPI) 미기동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8451288" y="2885844"/>
            <a:ext cx="8834387" cy="331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 </a:t>
            </a:r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타임아웃 캐치 → 로컬 직접호출로 전환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534" y="4013233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1276284" y="3541349"/>
            <a:ext cx="681875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API 호출 실패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451288" y="3541349"/>
            <a:ext cx="8834387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 </a:t>
            </a:r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CSV 샘플 데이터 폴백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534" y="4671384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284" y="4199500"/>
            <a:ext cx="681875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키 없음·실패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451288" y="4199500"/>
            <a:ext cx="8834387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분기 → 템플릿 문구 생성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90534" y="5329535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76284" y="4857651"/>
            <a:ext cx="681875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연결 없음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8451288" y="4857651"/>
            <a:ext cx="8834387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</a:t>
            </a:r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미설정 감지 → SQLite 폴백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90534" y="5987687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284" y="5515802"/>
            <a:ext cx="681875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 2400 등 비정상 데이터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8451288" y="5515802"/>
            <a:ext cx="8834387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 단계에서 23:59로 보정, 사용 시점에서도 범위체크 후 안전 기본값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534" y="6645838"/>
            <a:ext cx="163069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4" name="Text 22"/>
          <p:cNvSpPr/>
          <p:nvPr/>
        </p:nvSpPr>
        <p:spPr>
          <a:xfrm>
            <a:off x="1276284" y="6173953"/>
            <a:ext cx="681875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지역명 오탐 ("해운대구" ⊃ "대구")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8451288" y="6173953"/>
            <a:ext cx="8834387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substring 매칭 대신 시도 정식명칭 단위 매칭으로 교체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76284" y="6832104"/>
            <a:ext cx="6818755" cy="61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구버전 Streamlit 미지원 API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8451288" y="6832104"/>
            <a:ext cx="8834387" cy="61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B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 TypeError </a:t>
            </a:r>
            <a:pPr algn="l" indent="0" marL="0">
              <a:buNone/>
            </a:pPr>
            <a:r>
              <a:rPr lang="en-US" sz="1875" dirty="0">
                <a:solidFill>
                  <a:srgbClr val="5B7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감지 후, 해당 기법 자체를 제거하고 버전 독립적 방식으로 재작성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644772" y="9309117"/>
            <a:ext cx="72889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개발 진행 — 10.3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진행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090126"/>
            <a:ext cx="8029609" cy="2411677"/>
          </a:xfrm>
          <a:prstGeom prst="roundRect">
            <a:avLst>
              <a:gd name="adj" fmla="val 6319"/>
            </a:avLst>
          </a:prstGeom>
          <a:solidFill>
            <a:srgbClr val="0B3B6F"/>
          </a:solidFill>
          <a:ln/>
        </p:spPr>
      </p:sp>
      <p:sp>
        <p:nvSpPr>
          <p:cNvPr id="5" name="Text 3"/>
          <p:cNvSpPr/>
          <p:nvPr/>
        </p:nvSpPr>
        <p:spPr>
          <a:xfrm>
            <a:off x="1276284" y="2337759"/>
            <a:ext cx="820392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· 반경 · 정렬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76284" y="2730335"/>
            <a:ext cx="7681852" cy="15619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recommend_shelters(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 '대구 북구', '14:30', '산책', top_n=5)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result['_expanded'].iloc[0] in (True, False)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(result['distance_km']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E6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.diff().dropna() &gt;= 0).all()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67776" y="2090126"/>
            <a:ext cx="8029691" cy="2411677"/>
          </a:xfrm>
          <a:prstGeom prst="roundRect">
            <a:avLst>
              <a:gd name="adj" fmla="val 6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53526" y="2337759"/>
            <a:ext cx="82040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오탐 방지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9553526" y="2730335"/>
            <a:ext cx="7681937" cy="1257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_address_matches_region(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'부산광역시 해운대구 센텀동로 200', '대구') == False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_address_matches_region(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'대구광역시 남구 대명동 123', '대구') == True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90534" y="4749437"/>
            <a:ext cx="8029609" cy="2106910"/>
          </a:xfrm>
          <a:prstGeom prst="roundRect">
            <a:avLst>
              <a:gd name="adj" fmla="val 7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76284" y="4997070"/>
            <a:ext cx="820392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파싱 방어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76284" y="5389645"/>
            <a:ext cx="7681852" cy="9524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_parse_time_field('2400', '18:00') == '23:59'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_parse_time('garbage') == time(0, 0)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크래시 대신 안전 기본값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67776" y="4749437"/>
            <a:ext cx="8029691" cy="2106910"/>
          </a:xfrm>
          <a:prstGeom prst="roundRect">
            <a:avLst>
              <a:gd name="adj" fmla="val 7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53526" y="4997070"/>
            <a:ext cx="82040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회귀 (보호자모드)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9553526" y="5389645"/>
            <a:ext cx="7681937" cy="1257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 = start_outing('김영자', ...)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checkin_shelter(sid); send_checkin(sid, 'ok')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get_outing_by_id(sid)['status'] == 'checked_in'</a:t>
            </a:r>
            <a:endParaRPr lang="en-US" sz="1500" dirty="0"/>
          </a:p>
          <a:p>
            <a:pPr algn="l" indent="0" marL="0">
              <a:lnSpc>
                <a:spcPct val="140488"/>
              </a:lnSpc>
              <a:buNone/>
            </a:pPr>
            <a:r>
              <a:rPr lang="en-US" sz="1500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get_outing_by_id(sid)['checkin_requested_at'] is None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0534" y="7103980"/>
            <a:ext cx="16306933" cy="753401"/>
          </a:xfrm>
          <a:prstGeom prst="roundRect">
            <a:avLst>
              <a:gd name="adj" fmla="val 17700"/>
            </a:avLst>
          </a:prstGeom>
          <a:solidFill>
            <a:srgbClr val="E7EE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284" y="7332580"/>
            <a:ext cx="16224641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테스트는 매 기능 추가 직후 바로 실행해, 회귀(regression) 여부를 즉시 확인하는 방식으로 진행했다.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613685" y="9309117"/>
            <a:ext cx="7599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시연 및 리뷰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시나리오 6단계 · RFP 대비 자체 리뷰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54851" y="9271000"/>
            <a:ext cx="76634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23884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시연 및 리뷰 — 11.1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01659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시나리오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204393"/>
            <a:ext cx="5283233" cy="230493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14318" y="2509160"/>
            <a:ext cx="509923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14318" y="3053126"/>
            <a:ext cx="50992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모드선택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4318" y="3518793"/>
            <a:ext cx="5099232" cy="380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진입 시 "본인모드" / "보호자모드" 선택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02301" y="2204393"/>
            <a:ext cx="5283316" cy="230493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26085" y="2509160"/>
            <a:ext cx="509932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26085" y="3053126"/>
            <a:ext cx="50993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본인모드 추천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26085" y="3518793"/>
            <a:ext cx="4774821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지역·시간·활동유형 입력 → 실API 기반 추천 → 지도+카드+AI 안내문구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14150" y="2204393"/>
            <a:ext cx="5283316" cy="230493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37935" y="2509160"/>
            <a:ext cx="509932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337935" y="3053126"/>
            <a:ext cx="50993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안전상태 패널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37935" y="3518793"/>
            <a:ext cx="4774821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검색화면 내에서 외출 시작 / 체크인 / 귀가 / 안부공유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534" y="4737861"/>
            <a:ext cx="5283233" cy="2304934"/>
          </a:xfrm>
          <a:prstGeom prst="roundRect">
            <a:avLst>
              <a:gd name="adj" fmla="val 7438"/>
            </a:avLst>
          </a:prstGeom>
          <a:solidFill>
            <a:srgbClr val="0B3B6F"/>
          </a:solidFill>
          <a:ln/>
        </p:spPr>
      </p:sp>
      <p:sp>
        <p:nvSpPr>
          <p:cNvPr id="17" name="Text 15"/>
          <p:cNvSpPr/>
          <p:nvPr/>
        </p:nvSpPr>
        <p:spPr>
          <a:xfrm>
            <a:off x="1314318" y="5042628"/>
            <a:ext cx="509923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FB0F5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314318" y="5586594"/>
            <a:ext cx="50992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신고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14318" y="6052261"/>
            <a:ext cx="4774736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연결 있으면 즉시 알림, 없으면 자동 독립신고 시뮬레이션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02301" y="4737861"/>
            <a:ext cx="5283316" cy="230493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26085" y="5042628"/>
            <a:ext cx="509932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826085" y="5586594"/>
            <a:ext cx="50993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보호자모드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26085" y="6052261"/>
            <a:ext cx="4774821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요약카드(진행중·응답필요·도움요청), 안부요청·긴급호출, 시간순 타임라인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14150" y="4737861"/>
            <a:ext cx="5283316" cy="230493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337935" y="5042628"/>
            <a:ext cx="509932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2337935" y="5586594"/>
            <a:ext cx="50993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쉼터 보기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37935" y="6052261"/>
            <a:ext cx="5099323" cy="380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1800" dirty="0">
                <a:solidFill>
                  <a:srgbClr val="6B7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필터 없이 대구 전체 실좌표 지도 표시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0534" y="9309117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605912" y="9309117"/>
            <a:ext cx="7677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838150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시연 및 리뷰 — 11.2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215926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리뷰 (RFP 대비)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318660"/>
            <a:ext cx="16306933" cy="971600"/>
          </a:xfrm>
          <a:prstGeom prst="roundRect">
            <a:avLst>
              <a:gd name="adj" fmla="val 17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33417" y="2642510"/>
            <a:ext cx="121920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24051" y="2604410"/>
            <a:ext cx="11387370" cy="4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36"/>
              </a:lnSpc>
              <a:buNone/>
            </a:pPr>
            <a:r>
              <a:rPr lang="en-US" sz="2100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필수(FUR/ALR/DAR/SIR/AIR) 요구사항 대부분 ✅ — 시설구분 명칭·기상청 연동 등 일부만 ⚠️ / ❌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534" y="3499776"/>
            <a:ext cx="16306933" cy="971600"/>
          </a:xfrm>
          <a:prstGeom prst="roundRect">
            <a:avLst>
              <a:gd name="adj" fmla="val 17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33417" y="3823626"/>
            <a:ext cx="121920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24051" y="3785526"/>
            <a:ext cx="12714065" cy="4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36"/>
              </a:lnSpc>
              <a:buNone/>
            </a:pPr>
            <a:r>
              <a:rPr lang="en-US" sz="2100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RFP가 명시적으로 제외한 보호자모드를 팀 판단으로 풀구현 — 발표에서 "RFP 범위 밖 보너스"임을 명확히 고지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534" y="4680893"/>
            <a:ext cx="16306933" cy="971600"/>
          </a:xfrm>
          <a:prstGeom prst="roundRect">
            <a:avLst>
              <a:gd name="adj" fmla="val 17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B3B6F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33417" y="5004743"/>
            <a:ext cx="121920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투명성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24051" y="4966643"/>
            <a:ext cx="11304423" cy="4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36"/>
              </a:lnSpc>
              <a:buNone/>
            </a:pPr>
            <a:r>
              <a:rPr lang="en-US" sz="2100" dirty="0">
                <a:solidFill>
                  <a:srgbClr val="0F2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좌표는 실API 우선, 일부 미제공 건은 합성좌표로 보완 — 화면에 실/합성 여부를 항상 캡션으로 명시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534" y="5862010"/>
            <a:ext cx="16306933" cy="971600"/>
          </a:xfrm>
          <a:prstGeom prst="roundRect">
            <a:avLst>
              <a:gd name="adj" fmla="val 17646"/>
            </a:avLst>
          </a:prstGeom>
          <a:solidFill>
            <a:srgbClr val="0B3B6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417" y="6185860"/>
            <a:ext cx="121920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여지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4051" y="6147760"/>
            <a:ext cx="11774364" cy="4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36"/>
              </a:lnSpc>
              <a:buNone/>
            </a:pPr>
            <a:r>
              <a:rPr lang="en-US" sz="2100" dirty="0">
                <a:solidFill>
                  <a:srgbClr val="DC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활동유형별 반경 수치의 통계적 근거 부족(팀 논의 초기값) · 실시간 안부 알림이 아닌 수동 새로고침 기반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0534" y="9194850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611617" y="9194850"/>
            <a:ext cx="7620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3387"/>
            <a:ext cx="1760220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dirty="0">
                <a:solidFill>
                  <a:srgbClr val="7FB0F5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016004"/>
            <a:ext cx="17602201" cy="105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6361080"/>
            <a:ext cx="1143000" cy="5713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684863"/>
            <a:ext cx="1760220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됐던 점 · 어려웠던 점 · 배운 점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455678" y="9271000"/>
            <a:ext cx="76552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34" y="781017"/>
            <a:ext cx="1793762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후기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534" y="1158792"/>
            <a:ext cx="17937626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3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공통 회고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90534" y="2223410"/>
            <a:ext cx="5270500" cy="4949528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33417" y="2547193"/>
            <a:ext cx="504320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됐던 점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417" y="3039319"/>
            <a:ext cx="472227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폴백 설계 원칙(백엔드·실API·AI·DB 4곳)을 처음부터 일관되게 적용해, 개발 중 여러 번 오류가 나도 데모가 끊긴 적이 없었다.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333417" y="4356117"/>
            <a:ext cx="4584733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8" name="Text 6"/>
          <p:cNvSpPr/>
          <p:nvPr/>
        </p:nvSpPr>
        <p:spPr>
          <a:xfrm>
            <a:off x="1333417" y="4575142"/>
            <a:ext cx="472227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범위가 계속 왔다갔다 했지만, 그때마다 "지금 데모 가능한가"를 기준으로 삼아 방향을 잃지 않았다.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08668" y="2223410"/>
            <a:ext cx="5270583" cy="4949528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B3B6F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1551" y="2547193"/>
            <a:ext cx="5043298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어려웠던 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51551" y="3039319"/>
            <a:ext cx="472236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공공API는 문서만으로 엔드포인트·필드명을 확신할 수 없어, 키를 받아 직접 호출해보기 전까지 여러 번 헤맸다.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851551" y="4356117"/>
            <a:ext cx="4584816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1551" y="4575142"/>
            <a:ext cx="4722361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그럴듯해 보이는 필터링 로직도 실데이터로 검증하지 않으면 숨은 버그를 놓친다는 것을 체감했다.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851551" y="5522847"/>
            <a:ext cx="4584816" cy="9525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1551" y="5741872"/>
            <a:ext cx="472236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3C5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버전 차이로 인한 UI 버그를 겪으며, 최신 기능 의존보다 버전 독립적 방식이 안전함을 배웠다.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2026884" y="2223410"/>
            <a:ext cx="5270583" cy="4949528"/>
          </a:xfrm>
          <a:prstGeom prst="roundRect">
            <a:avLst>
              <a:gd name="adj" fmla="val 3849"/>
            </a:avLst>
          </a:prstGeom>
          <a:solidFill>
            <a:srgbClr val="0B3B6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69767" y="2547193"/>
            <a:ext cx="5043298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69767" y="3039319"/>
            <a:ext cx="472236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DC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RFP는 한 번 정해지면 끝이 아니라, 제약(시간·데이터·기술) 안에서 계속 재조정되는 살아있는 문서라는 것.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369767" y="4356117"/>
            <a:ext cx="4584816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69767" y="4575142"/>
            <a:ext cx="472236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875" dirty="0">
                <a:solidFill>
                  <a:srgbClr val="DC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"구현 제외"로 명시된 기능도 팀 판단으로 추가할 수 있지만, 그 판단의 배경을 스스로 설명할 수 있어야 한다는 것.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90534" y="7458687"/>
            <a:ext cx="17937626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3A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팀원 개별 소감은 이 형식에 맞춰 추가로 채워 넣습니다.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990534" y="9251984"/>
            <a:ext cx="8010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6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621044" y="9251984"/>
            <a:ext cx="7526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1" y="5905500"/>
            <a:ext cx="6096000" cy="6096000"/>
          </a:xfrm>
          <a:prstGeom prst="ellipse">
            <a:avLst/>
          </a:prstGeom>
          <a:solidFill>
            <a:srgbClr val="7FB0F5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314856"/>
            <a:ext cx="17602201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2817565"/>
            <a:ext cx="16482061" cy="19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88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데모 가능한 상태로, 가족까지 안심시키는 폭염 안전 서비스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1143000" y="5301506"/>
            <a:ext cx="6143626" cy="1802805"/>
          </a:xfrm>
          <a:prstGeom prst="roundRect">
            <a:avLst>
              <a:gd name="adj" fmla="val 951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66784" y="5587256"/>
            <a:ext cx="60456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784" y="5995707"/>
            <a:ext cx="5660939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857"/>
              </a:lnSpc>
              <a:buNone/>
            </a:pPr>
            <a:r>
              <a:rPr lang="en-US" sz="2025" dirty="0">
                <a:solidFill>
                  <a:srgbClr val="E6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취약계층의 온열질환 예방 보호자의 실시간 안심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7572376" y="5301506"/>
            <a:ext cx="6143626" cy="1802805"/>
          </a:xfrm>
          <a:prstGeom prst="roundRect">
            <a:avLst>
              <a:gd name="adj" fmla="val 951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96159" y="5587256"/>
            <a:ext cx="60456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B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방향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96159" y="5995707"/>
            <a:ext cx="5660939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857"/>
              </a:lnSpc>
              <a:buNone/>
            </a:pPr>
            <a:r>
              <a:rPr lang="en-US" sz="2025" dirty="0">
                <a:solidFill>
                  <a:srgbClr val="E6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기상청 연동 · 실시간 쉼터 혼잡도 지자체 협업 · 한파 등 타 재해 확장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43000" y="7675811"/>
            <a:ext cx="176022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python4팀 · 박동훈 · 서지희 · 정세진 · 박준호 · 2026.08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57166" y="9271000"/>
            <a:ext cx="7640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2026-08-22T03:32:09Z</dcterms:created>
  <dcterms:modified xsi:type="dcterms:W3CDTF">2026-08-22T03:32:09Z</dcterms:modified>
</cp:coreProperties>
</file>